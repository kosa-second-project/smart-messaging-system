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e7cb47b92b4861" /><Relationship Type="http://schemas.openxmlformats.org/officeDocument/2006/relationships/extended-properties" Target="/docProps/app.xml" Id="R7794f5fb4f8b4d20" /><Relationship Type="http://schemas.openxmlformats.org/officeDocument/2006/relationships/officeDocument" Target="/ppt/presentation.xml" Id="R62ffd0cd75ff4a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c3446684984f6d"/>
  </p:sldMasterIdLst>
  <p:notesMasterIdLst>
    <p:notesMasterId xmlns:r="http://schemas.openxmlformats.org/officeDocument/2006/relationships" r:id="R49ca9e82a14a4c1c"/>
  </p:notesMasterIdLst>
  <p:sldIdLst>
    <p:sldId xmlns:r="http://schemas.openxmlformats.org/officeDocument/2006/relationships" id="256" r:id="Ra5cc8b02409b4bd5"/>
    <p:sldId xmlns:r="http://schemas.openxmlformats.org/officeDocument/2006/relationships" id="257" r:id="R707e44c8acba4260"/>
    <p:sldId xmlns:r="http://schemas.openxmlformats.org/officeDocument/2006/relationships" id="258" r:id="R880d10e8603a40d2"/>
    <p:sldId xmlns:r="http://schemas.openxmlformats.org/officeDocument/2006/relationships" id="259" r:id="R760c331db3d34693"/>
    <p:sldId xmlns:r="http://schemas.openxmlformats.org/officeDocument/2006/relationships" id="260" r:id="R4bab27ad2f2149c8"/>
    <p:sldId xmlns:r="http://schemas.openxmlformats.org/officeDocument/2006/relationships" id="261" r:id="R46605c69a3d04579"/>
    <p:sldId xmlns:r="http://schemas.openxmlformats.org/officeDocument/2006/relationships" id="262" r:id="Rb3b8cf5d67f84591"/>
    <p:sldId xmlns:r="http://schemas.openxmlformats.org/officeDocument/2006/relationships" id="263" r:id="Rb253c5e1efdc4d6a"/>
    <p:sldId xmlns:r="http://schemas.openxmlformats.org/officeDocument/2006/relationships" id="264" r:id="R3996fb1056e34594"/>
    <p:sldId xmlns:r="http://schemas.openxmlformats.org/officeDocument/2006/relationships" id="265" r:id="Rc956233e00e2471a"/>
    <p:sldId xmlns:r="http://schemas.openxmlformats.org/officeDocument/2006/relationships" id="266" r:id="Rfe8565788e3d4871"/>
    <p:sldId xmlns:r="http://schemas.openxmlformats.org/officeDocument/2006/relationships" id="267" r:id="R9537686b59224c63"/>
    <p:sldId xmlns:r="http://schemas.openxmlformats.org/officeDocument/2006/relationships" id="268" r:id="R9c71dd228a31476f"/>
    <p:sldId xmlns:r="http://schemas.openxmlformats.org/officeDocument/2006/relationships" id="269" r:id="Raf78a534bab0401b"/>
    <p:sldId xmlns:r="http://schemas.openxmlformats.org/officeDocument/2006/relationships" id="270" r:id="Re8e9b4341a93430f"/>
    <p:sldId xmlns:r="http://schemas.openxmlformats.org/officeDocument/2006/relationships" id="271" r:id="R939df3bd3e964c52"/>
    <p:sldId xmlns:r="http://schemas.openxmlformats.org/officeDocument/2006/relationships" id="272" r:id="Re7e5514f57784d88"/>
    <p:sldId xmlns:r="http://schemas.openxmlformats.org/officeDocument/2006/relationships" id="273" r:id="R8ea083607dfd438e"/>
    <p:sldId xmlns:r="http://schemas.openxmlformats.org/officeDocument/2006/relationships" id="274" r:id="R99e4afedee524622"/>
    <p:sldId xmlns:r="http://schemas.openxmlformats.org/officeDocument/2006/relationships" id="275" r:id="Rf2376e1dc67c425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e6d6f1285d495b" /><Relationship Type="http://schemas.openxmlformats.org/officeDocument/2006/relationships/slideMaster" Target="/ppt/slideMasters/slideMaster1.xml" Id="R63c3446684984f6d" /><Relationship Type="http://schemas.openxmlformats.org/officeDocument/2006/relationships/notesMaster" Target="/ppt/notesMasters/notesMaster1.xml" Id="R49ca9e82a14a4c1c" /><Relationship Type="http://schemas.openxmlformats.org/officeDocument/2006/relationships/presProps" Target="/ppt/presProps.xml" Id="R13b675c8f7cb4ad1" /><Relationship Type="http://schemas.openxmlformats.org/officeDocument/2006/relationships/tableStyles" Target="/ppt/tableStyles.xml" Id="R7ea0c7e02f434ab1" /><Relationship Type="http://schemas.openxmlformats.org/officeDocument/2006/relationships/slide" Target="/ppt/slides/slide1.xml" Id="Ra5cc8b02409b4bd5" /><Relationship Type="http://schemas.openxmlformats.org/officeDocument/2006/relationships/slide" Target="/ppt/slides/slide2.xml" Id="R707e44c8acba4260" /><Relationship Type="http://schemas.openxmlformats.org/officeDocument/2006/relationships/slide" Target="/ppt/slides/slide3.xml" Id="R880d10e8603a40d2" /><Relationship Type="http://schemas.openxmlformats.org/officeDocument/2006/relationships/slide" Target="/ppt/slides/slide4.xml" Id="R760c331db3d34693" /><Relationship Type="http://schemas.openxmlformats.org/officeDocument/2006/relationships/slide" Target="/ppt/slides/slide5.xml" Id="R4bab27ad2f2149c8" /><Relationship Type="http://schemas.openxmlformats.org/officeDocument/2006/relationships/slide" Target="/ppt/slides/slide6.xml" Id="R46605c69a3d04579" /><Relationship Type="http://schemas.openxmlformats.org/officeDocument/2006/relationships/slide" Target="/ppt/slides/slide7.xml" Id="Rb3b8cf5d67f84591" /><Relationship Type="http://schemas.openxmlformats.org/officeDocument/2006/relationships/slide" Target="/ppt/slides/slide8.xml" Id="Rb253c5e1efdc4d6a" /><Relationship Type="http://schemas.openxmlformats.org/officeDocument/2006/relationships/slide" Target="/ppt/slides/slide9.xml" Id="R3996fb1056e34594" /><Relationship Type="http://schemas.openxmlformats.org/officeDocument/2006/relationships/slide" Target="/ppt/slides/slide10.xml" Id="Rc956233e00e2471a" /><Relationship Type="http://schemas.openxmlformats.org/officeDocument/2006/relationships/slide" Target="/ppt/slides/slide11.xml" Id="Rfe8565788e3d4871" /><Relationship Type="http://schemas.openxmlformats.org/officeDocument/2006/relationships/slide" Target="/ppt/slides/slide12.xml" Id="R9537686b59224c63" /><Relationship Type="http://schemas.openxmlformats.org/officeDocument/2006/relationships/slide" Target="/ppt/slides/slide13.xml" Id="R9c71dd228a31476f" /><Relationship Type="http://schemas.openxmlformats.org/officeDocument/2006/relationships/slide" Target="/ppt/slides/slide14.xml" Id="Raf78a534bab0401b" /><Relationship Type="http://schemas.openxmlformats.org/officeDocument/2006/relationships/slide" Target="/ppt/slides/slide15.xml" Id="Re8e9b4341a93430f" /><Relationship Type="http://schemas.openxmlformats.org/officeDocument/2006/relationships/slide" Target="/ppt/slides/slide16.xml" Id="R939df3bd3e964c52" /><Relationship Type="http://schemas.openxmlformats.org/officeDocument/2006/relationships/slide" Target="/ppt/slides/slide17.xml" Id="Re7e5514f57784d88" /><Relationship Type="http://schemas.openxmlformats.org/officeDocument/2006/relationships/slide" Target="/ppt/slides/slide18.xml" Id="R8ea083607dfd438e" /><Relationship Type="http://schemas.openxmlformats.org/officeDocument/2006/relationships/slide" Target="/ppt/slides/slide19.xml" Id="R99e4afedee524622" /><Relationship Type="http://schemas.openxmlformats.org/officeDocument/2006/relationships/slide" Target="/ppt/slides/slide20.xml" Id="Rf2376e1dc67c42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a6a2f619f344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46849d7067467a" /><Relationship Type="http://schemas.openxmlformats.org/officeDocument/2006/relationships/notesMaster" Target="/ppt/notesMasters/notesMaster1.xml" Id="R084d9f0b04d445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35d2eec0c446e3" /><Relationship Type="http://schemas.openxmlformats.org/officeDocument/2006/relationships/notesMaster" Target="/ppt/notesMasters/notesMaster1.xml" Id="R864e53d369c846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0c25f23cb64c17" /><Relationship Type="http://schemas.openxmlformats.org/officeDocument/2006/relationships/notesMaster" Target="/ppt/notesMasters/notesMaster1.xml" Id="Rf097f3ff7fed45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66e26f909c4fd6" /><Relationship Type="http://schemas.openxmlformats.org/officeDocument/2006/relationships/notesMaster" Target="/ppt/notesMasters/notesMaster1.xml" Id="R216e35df819243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755a2b822643ce" /><Relationship Type="http://schemas.openxmlformats.org/officeDocument/2006/relationships/notesMaster" Target="/ppt/notesMasters/notesMaster1.xml" Id="R84dba5d82b9c45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14fef8cda04fa2" /><Relationship Type="http://schemas.openxmlformats.org/officeDocument/2006/relationships/notesMaster" Target="/ppt/notesMasters/notesMaster1.xml" Id="R3f77bb701dd14a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4d7d44d78d046ff" /><Relationship Type="http://schemas.openxmlformats.org/officeDocument/2006/relationships/notesMaster" Target="/ppt/notesMasters/notesMaster1.xml" Id="Re469250f67b044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b960bc5209e4e70" /><Relationship Type="http://schemas.openxmlformats.org/officeDocument/2006/relationships/notesMaster" Target="/ppt/notesMasters/notesMaster1.xml" Id="R12ed9979f27649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3586fd7a43a47f9" /><Relationship Type="http://schemas.openxmlformats.org/officeDocument/2006/relationships/notesMaster" Target="/ppt/notesMasters/notesMaster1.xml" Id="Rc2c9545c14c845c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a6de90a726a4c81" /><Relationship Type="http://schemas.openxmlformats.org/officeDocument/2006/relationships/notesMaster" Target="/ppt/notesMasters/notesMaster1.xml" Id="Rbdeca56b85da463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83661345acc4d95" /><Relationship Type="http://schemas.openxmlformats.org/officeDocument/2006/relationships/notesMaster" Target="/ppt/notesMasters/notesMaster1.xml" Id="Rf4fb43d1f3bd4d0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7c49fc094c645c9" /><Relationship Type="http://schemas.openxmlformats.org/officeDocument/2006/relationships/notesMaster" Target="/ppt/notesMasters/notesMaster1.xml" Id="Rb84daf85a9a444f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a8be459b10f4678" /><Relationship Type="http://schemas.openxmlformats.org/officeDocument/2006/relationships/notesMaster" Target="/ppt/notesMasters/notesMaster1.xml" Id="R5c89b2493a61474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76517ad5cf2441c" /><Relationship Type="http://schemas.openxmlformats.org/officeDocument/2006/relationships/notesMaster" Target="/ppt/notesMasters/notesMaster1.xml" Id="Rda2207e2c8bf45d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66b0a85f4504d21" /><Relationship Type="http://schemas.openxmlformats.org/officeDocument/2006/relationships/notesMaster" Target="/ppt/notesMasters/notesMaster1.xml" Id="R0ecdbb21e60e474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c52164cf2dc4781" /><Relationship Type="http://schemas.openxmlformats.org/officeDocument/2006/relationships/notesMaster" Target="/ppt/notesMasters/notesMaster1.xml" Id="Reb017e739aa74a4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02f6c9661334fd2" /><Relationship Type="http://schemas.openxmlformats.org/officeDocument/2006/relationships/notesMaster" Target="/ppt/notesMasters/notesMaster1.xml" Id="R6b84629d96024f6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333d2c9a575408c" /><Relationship Type="http://schemas.openxmlformats.org/officeDocument/2006/relationships/notesMaster" Target="/ppt/notesMasters/notesMaster1.xml" Id="R901bd034f59749f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5d8f93cf5d647f2" /><Relationship Type="http://schemas.openxmlformats.org/officeDocument/2006/relationships/notesMaster" Target="/ppt/notesMasters/notesMaster1.xml" Id="R7767afefa2294f1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8bd0265a2e94905" /><Relationship Type="http://schemas.openxmlformats.org/officeDocument/2006/relationships/notesMaster" Target="/ppt/notesMasters/notesMaster1.xml" Id="R50980cf650e548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1ad8fe86764e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949f2f799b4630" /><Relationship Type="http://schemas.openxmlformats.org/officeDocument/2006/relationships/slideLayout" Target="/ppt/slideLayouts/slideLayout1.xml" Id="R53f07a24e72441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f07a24e72441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8104f918794355" /><Relationship Type="http://schemas.openxmlformats.org/officeDocument/2006/relationships/notesSlide" Target="/ppt/notesSlides/notesSlide1.xml" Id="Rd31318e43b5646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bbb0229aca4267" /><Relationship Type="http://schemas.openxmlformats.org/officeDocument/2006/relationships/notesSlide" Target="/ppt/notesSlides/notesSlide2.xml" Id="R3486e40ec0e64d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859816f4f14f81" /><Relationship Type="http://schemas.openxmlformats.org/officeDocument/2006/relationships/notesSlide" Target="/ppt/notesSlides/notesSlide3.xml" Id="Rcca4a36246d64c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e375998ab040cc" /><Relationship Type="http://schemas.openxmlformats.org/officeDocument/2006/relationships/notesSlide" Target="/ppt/notesSlides/notesSlide4.xml" Id="Rb157668590ce4e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ffe26cc7ea4130" /><Relationship Type="http://schemas.openxmlformats.org/officeDocument/2006/relationships/notesSlide" Target="/ppt/notesSlides/notesSlide5.xml" Id="Rda3b7a3ca33544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7c526e6d6344f1" /><Relationship Type="http://schemas.openxmlformats.org/officeDocument/2006/relationships/notesSlide" Target="/ppt/notesSlides/notesSlide6.xml" Id="Rf6881505521841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a8c18497204dc7" /><Relationship Type="http://schemas.openxmlformats.org/officeDocument/2006/relationships/notesSlide" Target="/ppt/notesSlides/notesSlide7.xml" Id="R99681e56a0b649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f7cdafb74242d4" /><Relationship Type="http://schemas.openxmlformats.org/officeDocument/2006/relationships/notesSlide" Target="/ppt/notesSlides/notesSlide8.xml" Id="R5099ced32eab4c4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ef4656a7cf429d" /><Relationship Type="http://schemas.openxmlformats.org/officeDocument/2006/relationships/notesSlide" Target="/ppt/notesSlides/notesSlide9.xml" Id="Rf165c65f1b2c4a3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2ddb8abc314fb3" /><Relationship Type="http://schemas.openxmlformats.org/officeDocument/2006/relationships/notesSlide" Target="/ppt/notesSlides/notesSlide10.xml" Id="Rf404aa18dfaf4ff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96c1975ba94cf2" /><Relationship Type="http://schemas.openxmlformats.org/officeDocument/2006/relationships/notesSlide" Target="/ppt/notesSlides/notesSlide11.xml" Id="R004992fcf17e407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cb4ba55f7f420b" /><Relationship Type="http://schemas.openxmlformats.org/officeDocument/2006/relationships/notesSlide" Target="/ppt/notesSlides/notesSlide12.xml" Id="R2f475824973e4ac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d9fc60d1424d0c" /><Relationship Type="http://schemas.openxmlformats.org/officeDocument/2006/relationships/notesSlide" Target="/ppt/notesSlides/notesSlide13.xml" Id="R3002839342b243a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5bcd3c23ce446d" /><Relationship Type="http://schemas.openxmlformats.org/officeDocument/2006/relationships/notesSlide" Target="/ppt/notesSlides/notesSlide14.xml" Id="R9c3df42a22e947a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3b8c589a6647a5" /><Relationship Type="http://schemas.openxmlformats.org/officeDocument/2006/relationships/notesSlide" Target="/ppt/notesSlides/notesSlide15.xml" Id="R95b6f0c61357462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589680413843cc" /><Relationship Type="http://schemas.openxmlformats.org/officeDocument/2006/relationships/notesSlide" Target="/ppt/notesSlides/notesSlide16.xml" Id="Rc344022ad844428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51bba9a1ae46cb" /><Relationship Type="http://schemas.openxmlformats.org/officeDocument/2006/relationships/notesSlide" Target="/ppt/notesSlides/notesSlide17.xml" Id="R8c9c79c1ac514b4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6e1d87d8b4482a" /><Relationship Type="http://schemas.openxmlformats.org/officeDocument/2006/relationships/notesSlide" Target="/ppt/notesSlides/notesSlide18.xml" Id="Rb42b99819fee41b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0aa87f5f1147ba" /><Relationship Type="http://schemas.openxmlformats.org/officeDocument/2006/relationships/notesSlide" Target="/ppt/notesSlides/notesSlide19.xml" Id="Rdd4aa1c0b1f3476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475c04671240a7" /><Relationship Type="http://schemas.openxmlformats.org/officeDocument/2006/relationships/notesSlide" Target="/ppt/notesSlides/notesSlide20.xml" Id="Rb7371a1b29b84b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9BDD73-F6BC-43CC-8D07-6DAE775F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29AF59-A82B-4F9A-AC78-56365DC2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87F477-52C2-4968-9BDD-3CAAC238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D0B7EB-2CF8-47D4-8C9B-92B12B5D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F846E7-418A-43E5-B46E-9BCFB144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B9B4EA-251F-43F9-83A8-06A31E0C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86821F-9931-455E-A93B-CD632D10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F26EEE-15D1-4762-8277-D9B6730A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CDE89E-2438-4A3D-A668-DEDBA50D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110E08-402A-4319-96FF-6D873DCA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6C7E3F-30ED-49EF-A7E0-41E6DF94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46B352-3709-4CB8-89A1-DC799049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D5A0FC-E699-4860-A60B-ABEA46F1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615A24-067E-4DE7-B05E-E550EEC12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D1B6DF-8F0D-4B31-99F8-EC034C43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55A39E-3B30-4860-B500-B5DC7320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A7C9CC-BA2A-4574-850E-D615531B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7CCBAE-D264-4DC9-B3F4-8FD59E3E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F5FC00-0216-4EB6-ABD2-6D9B732F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ABCD1D-246C-436D-AFD3-7EFF7529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5CD261-CC5E-4324-984C-5E853493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8C46CC-06E1-4A76-A253-A09FFC2D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DF8C02-6ADA-4DF2-8265-BE06A112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A113C6-E78C-4078-A339-47C7CF45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D2BC91-6EAC-47FA-8C5A-D4AA8D63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30686A-30A8-4200-AA98-8EDEFA77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3FD827-F7C1-41D7-A697-19C801BC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CA7E47-2D05-4EC9-A0E0-59A92EF8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5674C4-148D-491F-8F04-D85CBD52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462B92-5AA6-47F4-8BD4-1A842A6D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452ED0-A199-4076-B761-F197D793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5F019F-42CE-49CB-AD05-D48CCADD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F9731E-D6A1-461F-8534-2C9BF0A2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BC85C1-5F99-4D37-9887-7E41D8BC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446120-65F5-4EB0-8445-05AFC612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4C9E61-09E8-47D6-8F93-FE6C10FC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9FF5EAF-1618-4E4F-AA91-7098BE0B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D2AD0F6-BAC3-463D-8EC2-B2484AFA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1FF2492-0D8C-45B6-AE1C-C9E60F3A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4458258-FCCC-4521-9B29-3A4FA3EAA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C753856-9235-44B2-82B8-328303F9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4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CEF948E-5B42-4BCB-937E-71BE9C5A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AE68865-CA23-484C-93E7-EF1C00AE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42875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E185C0E-5B75-44CC-B27B-FC1BC4F7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0962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DESIGN SYSTEM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77CBD65-1192-4CE7-8DDC-8BCE3722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7429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1828"/>
                </a:solidFill>
              </a:defRPr>
            </a:pPr>
            <a:r>
              <a:rPr sz="4350" b="1">
                <a:solidFill>
                  <a:srgbClr val="101828"/>
                </a:solidFill>
              </a:rPr>
              <a:t>Smart Messaging System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AD23356-C5D0-487A-AE81-32B30BA7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44054"/>
                </a:solidFill>
              </a:defRPr>
            </a:pPr>
            <a:r>
              <a:rPr sz="1725">
                <a:solidFill>
                  <a:srgbClr val="344054"/>
                </a:solidFill>
              </a:rPr>
              <a:t>팀 발표용 기술 설계 · Spring Boot · RabbitMQ · AI/RAG · Batch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AC346FA-CDD9-4A7B-BC8D-1FFEA712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12192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1345096-441E-4753-A542-5A76F44D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6242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59669"/>
                </a:solidFill>
              </a:defRPr>
            </a:pPr>
            <a:r>
              <a:rPr sz="1050" b="1">
                <a:solidFill>
                  <a:srgbClr val="059669"/>
                </a:solidFill>
              </a:rPr>
              <a:t>Spring Boot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81F9554-5E27-4440-ACE4-F8A567E0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095750"/>
            <a:ext cx="12192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EC70A72-8793-4FBD-9CA6-BC53AC55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16242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B5CF6"/>
                </a:solidFill>
              </a:defRPr>
            </a:pPr>
            <a:r>
              <a:rPr sz="1050" b="1">
                <a:solidFill>
                  <a:srgbClr val="8B5CF6"/>
                </a:solidFill>
              </a:rPr>
              <a:t>RabbitMQ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1F73867-40AC-40DF-B131-338A28D9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95750"/>
            <a:ext cx="12192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137DBA1-0C61-4978-B9C8-DC5E63EB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6242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91B2"/>
                </a:solidFill>
              </a:defRPr>
            </a:pPr>
            <a:r>
              <a:rPr sz="1050" b="1">
                <a:solidFill>
                  <a:srgbClr val="0891B2"/>
                </a:solidFill>
              </a:rPr>
              <a:t>AI/RAG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2C9DE5D-0390-4A4D-A6F1-35CF475F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095750"/>
            <a:ext cx="12192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D93065A-2780-426E-8379-22B03ED1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16242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97706"/>
                </a:solidFill>
              </a:defRPr>
            </a:pPr>
            <a:r>
              <a:rPr sz="1050" b="1">
                <a:solidFill>
                  <a:srgbClr val="D97706"/>
                </a:solidFill>
              </a:rPr>
              <a:t>Batch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22A8DFB-D430-4DB4-B846-7570AC65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09700"/>
            <a:ext cx="2857500" cy="34290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9A28F25-62F8-4E14-BEC4-C9745D7A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57375"/>
            <a:ext cx="1333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450" b="1">
                <a:solidFill>
                  <a:srgbClr val="2563EB"/>
                </a:solidFill>
              </a:defRPr>
            </a:pPr>
            <a:r>
              <a:rPr sz="645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57CC01E-025A-40B9-8F60-A9F7E16B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52750"/>
            <a:ext cx="200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Message</a:t>
            </a:r>
          </a:p>
          <a:p xmlns:a="http://schemas.openxmlformats.org/drawingml/2006/main">
            <a:pPr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Orchestration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3572069-8F58-4F89-A578-DA69F7F4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957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7085"/>
                </a:solidFill>
              </a:defRPr>
            </a:pPr>
            <a:r>
              <a:rPr sz="1275">
                <a:solidFill>
                  <a:srgbClr val="667085"/>
                </a:solidFill>
              </a:rPr>
              <a:t>prepared · queued · tracked · measured</a:t>
            </a:r>
          </a:p>
        </p:txBody>
      </p:sp>
    </p:spTree>
    <p:extLst>
      <p:ext uri="{BB962C8B-B14F-4D97-AF65-F5344CB8AC3E}">
        <p14:creationId xmlns:p14="http://schemas.microsoft.com/office/powerpoint/2010/main" val="11228030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D6FCC7-6A32-46D6-8109-505470FB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A03534-ECC7-4B0D-92B7-B88B1A72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C6C502-133B-40CE-B179-3622AB23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0CB95C-E1E1-4BE0-9CF5-0C817F5C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94E3C0-7ED4-4997-A9CB-90AF1A7B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F9C3DC-9727-4BDA-8118-DC412B73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3D2914-6F9C-4E11-80D1-9079EACE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E83C63-5F3D-4A02-8A66-9F06D6D7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44E9C0-EC0C-4DB6-8A55-6E4C8936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FD1AA8-B0A7-4336-AED2-4EE7F237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EEFD95-E5CC-44FD-8762-37F7A331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744852-9811-4C3D-8015-0A7EB99F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830318-B0AC-4B77-AC6A-F4D1B859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430BC0-6B99-480C-91E2-5E04FA64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C34E64-6DF6-490B-93B2-CD24FB46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8200E2-5DC5-42E4-A4FA-B1409BA0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D73DC2-1E1C-475F-B1CB-DA9ADEF9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6FEDE9-D912-484D-8448-3A444B56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3E2803-7F76-42FC-937F-CFCC2F92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37C386-447F-41DA-8D95-706483B5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6106A6-5A55-4C92-9F4B-84E426B4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3B7126-F4B9-40C4-8763-606FC418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250333-1C18-4312-B798-D040BA13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2E8C6E-B907-4E9B-8417-4BE3BFA1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914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EA4F22-4D51-4215-A912-EC729403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295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FD7289-58E0-4DC4-9206-7481153F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76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8C57BB-9F64-4FBD-8BE5-1ACA7608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57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42BEA5-A299-4D7D-B142-5C5BBC43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38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48A317-0109-4BEC-B58C-6040A41D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19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068AEC-B4C3-483C-B8A5-B46BB7F9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00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3CB9EB-E3D2-47EC-9AEA-0B447AC8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81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63FB23-229A-4F48-9057-0D4C9ECD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62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1ED74F-3DD8-4247-8209-A609A960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43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5B2EAF-7BA2-4D19-BBF7-674001A6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24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444518-ED4E-4316-85CA-19034794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05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104F60-D9C3-42AB-A7BD-8582C1E2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486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22E214-6B3E-43A5-A613-EFB6A509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1CBB2FC-4AD1-47F8-8AD0-39998060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248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292809F-8859-4A80-A237-00C73665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629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10D5114-6B74-4042-A513-E943EB7A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FB1763A-24AB-478E-8D54-0ECCD4E6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C3EAF4A-B1E3-4A30-9561-5D84A1DF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95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1828"/>
                </a:solidFill>
              </a:defRPr>
            </a:pPr>
            <a:r>
              <a:rPr sz="1275" b="1">
                <a:solidFill>
                  <a:srgbClr val="101828"/>
                </a:solidFill>
              </a:rPr>
              <a:t>Smart Messaging System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88ED1C1-ED1A-4F1D-A513-A738593B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71450"/>
            <a:ext cx="6858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6617ADE-1364-45F8-9D2E-BF4BD871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8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버전 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56BF3F8-3476-4EB2-A162-4F9BCA85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810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ABFD4FE-9F01-4B07-9DDF-7AFC6F03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Cover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66D2911-5357-4008-B722-BDB395EC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04900"/>
            <a:ext cx="2914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6875136-34A4-42C5-B32A-507C566F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811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F9CDF51-E961-4212-BEA1-1A499948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1828"/>
                </a:solidFill>
              </a:defRPr>
            </a:pPr>
            <a:r>
              <a:rPr sz="1125" b="1">
                <a:solidFill>
                  <a:srgbClr val="101828"/>
                </a:solidFill>
              </a:rPr>
              <a:t>Contents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D4BE858-0E37-454B-AB13-22F09134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581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50E230B-2858-4E26-BDBC-2FD647BB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개요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DD51C82-6C27-4D8A-A2EA-EA2240F6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9812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04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44BD9E4-1BA5-4B2B-8807-441B435A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아키텍처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963E430-02CB-4E59-9652-D299DFA3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381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3945134-49C1-4AC8-AC66-4AF07B5C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핵심 기능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FA2E1B8-3B67-44EB-9608-9AE7D3E5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7813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06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EE4ED2D-BB18-4DF7-B9E0-C4A98B9D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담당 구현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3E8C1D4-F621-4FC5-A99F-7510A083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1813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07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65869A6-9EC3-4E14-987E-0F42449C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트러블슈팅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CD3F2A8-9CAB-4001-894F-C5B3581F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5814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08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E9E3B1E-73F3-406D-B7C4-F928A2C8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산출물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2D25576-B73A-44EA-8BE7-2EC1DB92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9814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09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0E01DE1-BAB9-42A4-B177-BDB79E93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협업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D0795CB-786A-4EF4-901F-5E176A07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3815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10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CD634D7-33D4-4956-945C-502BCB82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회고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2E7BC99-E9E6-461F-A673-754E82C5C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2865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7085"/>
                </a:solidFill>
              </a:defRPr>
            </a:pPr>
            <a:r>
              <a:rPr sz="1350" b="1">
                <a:solidFill>
                  <a:srgbClr val="667085"/>
                </a:solidFill>
              </a:rPr>
              <a:t>/02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81EDE3B-6035-49C4-A62E-85CA4963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391275"/>
            <a:ext cx="1885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CFDF2A2-7142-49DF-9691-D88CA630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33400"/>
            <a:ext cx="13716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5BD826D-2421-4B88-8BDF-ED259D25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0007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Contents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83CC962-C154-4334-A28F-305E506F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0477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20장의 흐름은 문제에서 운영까지 이어집니다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F28DDF8-D4AF-4224-AD52-E54BFCCA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812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8B1D013-7E75-4E0E-999D-5496BF37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05050"/>
            <a:ext cx="5619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2DFD2A3-FB58-4302-9628-B5F3088D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09825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1828"/>
                </a:solidFill>
              </a:defRPr>
            </a:pPr>
            <a:r>
              <a:rPr sz="1500">
                <a:solidFill>
                  <a:srgbClr val="101828"/>
                </a:solidFill>
              </a:rPr>
              <a:t>서비스 개요와 마케터 플로우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AF9C6DE-1F6E-4B90-B8C3-BD2950F3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480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8B5CF6"/>
                </a:solidFill>
              </a:defRPr>
            </a:pPr>
            <a:r>
              <a:rPr sz="1800" b="1">
                <a:solidFill>
                  <a:srgbClr val="8B5CF6"/>
                </a:solidFill>
              </a:rPr>
              <a:t>02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1F36D0D-BBEE-4491-825C-524CED71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71800"/>
            <a:ext cx="5619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E2BE8DA-903A-4D53-8E36-4452E354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76575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1828"/>
                </a:solidFill>
              </a:defRPr>
            </a:pPr>
            <a:r>
              <a:rPr sz="1500">
                <a:solidFill>
                  <a:srgbClr val="101828"/>
                </a:solidFill>
              </a:rPr>
              <a:t>아키텍처와 핵심 기능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3AC2F97-C3F3-425D-AF78-A4DEA944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147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91B2"/>
                </a:solidFill>
              </a:defRPr>
            </a:pPr>
            <a:r>
              <a:rPr sz="1800" b="1">
                <a:solidFill>
                  <a:srgbClr val="0891B2"/>
                </a:solidFill>
              </a:rPr>
              <a:t>03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5D64DA5-FC74-4B8F-A0F4-E029588C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5619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05266F2-804C-4649-A4EC-15A209E8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43325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1828"/>
                </a:solidFill>
              </a:defRPr>
            </a:pPr>
            <a:r>
              <a:rPr sz="1500">
                <a:solidFill>
                  <a:srgbClr val="101828"/>
                </a:solidFill>
              </a:rPr>
              <a:t>담당 구현: 라우팅, URL, 큐, AI, 통계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DC1B7C4-8930-437A-BA2D-2C71140B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815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59669"/>
                </a:solidFill>
              </a:defRPr>
            </a:pPr>
            <a:r>
              <a:rPr sz="1800" b="1">
                <a:solidFill>
                  <a:srgbClr val="059669"/>
                </a:solidFill>
              </a:rPr>
              <a:t>04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9C1127A-3D6B-4C33-961C-D7F4B388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305300"/>
            <a:ext cx="5619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7F7746D-03C3-4D34-8184-9114E9CA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10075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1828"/>
                </a:solidFill>
              </a:defRPr>
            </a:pPr>
            <a:r>
              <a:rPr sz="1500">
                <a:solidFill>
                  <a:srgbClr val="101828"/>
                </a:solidFill>
              </a:rPr>
              <a:t>트러블슈팅과 산출물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45FE6BA-3A77-421E-B2F2-4B103636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482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7706"/>
                </a:solidFill>
              </a:defRPr>
            </a:pPr>
            <a:r>
              <a:rPr sz="1800" b="1">
                <a:solidFill>
                  <a:srgbClr val="D97706"/>
                </a:solidFill>
              </a:rPr>
              <a:t>05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E28E714-8FE7-4C05-92EA-9500B022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972050"/>
            <a:ext cx="5619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7EB72C1-F13E-45C0-9974-B5AC25CA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076825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1828"/>
                </a:solidFill>
              </a:defRPr>
            </a:pPr>
            <a:r>
              <a:rPr sz="1500">
                <a:solidFill>
                  <a:srgbClr val="101828"/>
                </a:solidFill>
              </a:rPr>
              <a:t>협업, 한계, 회고, Q&amp;A</a:t>
            </a:r>
          </a:p>
        </p:txBody>
      </p:sp>
    </p:spTree>
    <p:extLst>
      <p:ext uri="{BB962C8B-B14F-4D97-AF65-F5344CB8AC3E}">
        <p14:creationId xmlns:p14="http://schemas.microsoft.com/office/powerpoint/2010/main" val="7056895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C79828-FEBF-46DD-8BE4-83113B17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1F2915-9E04-46C7-BD15-9A001FBB4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2D525A-3D59-4E4B-9CB1-A7DB7B08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BDAD0C-4D29-4FFE-8E4A-C5C9A389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9A64E5-BEC5-443A-A399-18406752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CE592F-873A-402C-AF37-3B06EBFD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4F76AC-41C8-42D2-B373-5EA0AF8B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8FA868-B49E-4D3D-8CCC-5F749E52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CF44E7-1F25-4C6D-84F1-224AC1F2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CB5F18-5302-4A3B-A12F-4E85E691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4752E5-5C0E-4E3F-9E84-E215583D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59CFDB-F313-4309-B437-625F3D0B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A7EB8D-AB4D-486C-A37C-434F230B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791DE1-5C3F-421C-8BC1-002505F5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81347E-1E75-417E-9191-832C970B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AAA5A6-0A39-4268-940F-EC165E00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EC4E7B-BC5B-4BAF-9CC3-B8B7B217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1CD590-41BB-439E-9522-A1B24A21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538FCE-DB26-404A-8518-54CF08AC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C787E3-AC6F-422E-BA7E-45315642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C75D7E-CFA8-4B6C-B249-2EBB7F6F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E01218-D0A1-4477-8D71-709DEAF0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CD429C-A15F-4ADC-884F-05ADB4A6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980066-315E-4818-B510-2796889B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914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4D20EB-B3DF-4610-A2AA-A07C98EC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295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4959E3-C787-42CD-96F0-4AAD2E92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76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B10997-3E25-43A7-BF99-00077990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57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192AB2-63DA-4C24-9B85-965DFD41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38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A13883-4D5B-47CD-9C79-32021442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19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DDF5E9-6397-46D6-AC28-A13533BA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00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98AA16-275C-46B7-A3D0-39794BD2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81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AC0875-6830-4472-AB68-A8CCA5FC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62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BF44FA-0D31-4F4D-8729-CE9C5A2D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43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005C9E-1286-4A02-A5F6-3586FAC6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24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443D35-DEEF-453C-91BB-A16EBB0D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05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ACA9BB-7D4B-47D1-A1B0-BD06A3FB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486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5332724-22C8-423E-819C-A5A3F42D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93B5AE-3EF8-4DB8-A597-CBF6EB59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248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27A5191-132B-4337-A632-DD6F33FE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629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0AC05D0-AF7B-4E47-936F-E9A5554B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EEE7238-018A-406F-AE00-2F72F56F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E9D5B5D-FDEB-40DB-907F-8EFC1018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95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1828"/>
                </a:solidFill>
              </a:defRPr>
            </a:pPr>
            <a:r>
              <a:rPr sz="1275" b="1">
                <a:solidFill>
                  <a:srgbClr val="101828"/>
                </a:solidFill>
              </a:rPr>
              <a:t>Smart Messaging System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930BCFF-7262-499B-8110-6B5B114B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71450"/>
            <a:ext cx="6858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8B06716-775F-4DC9-8583-EF45061D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8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버전 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1315D21-3668-43AE-85C6-E052DF77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810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7CE1323-E65E-453A-9A82-9C1378FD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Cover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AD217B2-6B41-46A3-9518-B852B164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811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6364588-6239-42CF-83DF-760FC2B3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Contents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48C89EA-6DCE-4D61-A15D-4F47DB55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504950"/>
            <a:ext cx="2914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746C479-AA25-41FA-AD7D-A9D39AFF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581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F68D25B-97DB-4A41-B99A-C33B5EF4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1828"/>
                </a:solidFill>
              </a:defRPr>
            </a:pPr>
            <a:r>
              <a:rPr sz="1125" b="1">
                <a:solidFill>
                  <a:srgbClr val="101828"/>
                </a:solidFill>
              </a:rPr>
              <a:t>개요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69C377F-3A45-4E1D-99C1-61703BC4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9812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04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3E0513F-F39A-4420-9EA7-E8A2DD97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아키텍처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565ABD4-8751-4EA8-894A-AA430245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381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AD18FE0-2966-45ED-81DE-51B2403D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핵심 기능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6BDD633-76DB-4DA4-8825-B838EB57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7813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06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5155CBA-6FAF-4F40-865C-1B9F0CA7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담당 구현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D156E77-FC86-4178-8B8C-A4141471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1813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07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D41309B-0F96-4F6D-ADB8-42C00723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트러블슈팅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B1AAB2B-519D-4CF3-A8C8-7E129503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5814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08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20E3D57-D48E-42AF-9957-1D56E9D9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산출물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38948AD-6BF0-4BFC-AA87-BDCE435D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9814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09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4C33363-885F-490F-B264-DBE90E41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협업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85673EC-5211-44D3-8057-E52F4130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3815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10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F7F47D4-14A8-4094-8181-A02D7070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회고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E25BD71-B8E4-49B1-B03A-0F3A0A7A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2865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7085"/>
                </a:solidFill>
              </a:defRPr>
            </a:pPr>
            <a:r>
              <a:rPr sz="1350" b="1">
                <a:solidFill>
                  <a:srgbClr val="667085"/>
                </a:solidFill>
              </a:rPr>
              <a:t>/03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D1F1E4A-32C5-48CC-814C-E21BCFE4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391275"/>
            <a:ext cx="1885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227DDBD-F70A-49B6-B7F8-C6F0998A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33400"/>
            <a:ext cx="857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65E8E63-8F9E-43FE-8422-1114C0CA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000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개요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18921B6-2BDE-43A3-AA4E-6F261463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0477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목표는 대량 발송을 안전하게 준비하고 추적하는 것입니다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90D0279-AF88-4B8E-90BA-89783C7E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76500"/>
            <a:ext cx="3333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300A58D-9F0C-4FA2-9628-EB9A2B5A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765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2A736EE-8F33-450B-8202-6F5526FB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6860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배경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09A316F-195A-4B65-82C7-8A533CF7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08610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44054"/>
                </a:solidFill>
              </a:defRPr>
            </a:pPr>
            <a:r>
              <a:rPr sz="1275">
                <a:solidFill>
                  <a:srgbClr val="344054"/>
                </a:solidFill>
              </a:rPr>
              <a:t>마케터가 고객군, 채널, 템플릿을 조합해 캠페인을 실행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E2FD25B-434E-4E78-B4A1-3B4A6979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76500"/>
            <a:ext cx="3333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5399AC5-06CE-40E6-8280-8B424A41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765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325C216-FA4E-4486-925E-45622766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860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목표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5F7B518-285D-4B5C-9E4A-4FC9BDDF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8610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44054"/>
                </a:solidFill>
              </a:defRPr>
            </a:pPr>
            <a:r>
              <a:rPr sz="1275">
                <a:solidFill>
                  <a:srgbClr val="344054"/>
                </a:solidFill>
              </a:rPr>
              <a:t>수신자 선별부터 발송, 클릭 추적, 통계 집계까지 한 흐름으로 연결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EE19D68-FDB4-4DC8-9C44-A790666A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952875"/>
            <a:ext cx="3333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DA49454-D078-4F80-ADAF-72FFE194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952875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6A1499B-13F7-441C-AFA0-AA6FD811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162425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지표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B28E09F-131D-4BFA-9B6D-60E5DA72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562475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44054"/>
                </a:solidFill>
              </a:defRPr>
            </a:pPr>
            <a:r>
              <a:rPr sz="1275">
                <a:solidFill>
                  <a:srgbClr val="344054"/>
                </a:solidFill>
              </a:rPr>
              <a:t>성공률, 비용, 클릭률, 전환, 채널 동의율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01D5A8F-4E49-43A0-98A0-9A667D85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952875"/>
            <a:ext cx="3333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CA74DAA-79B9-4208-BBC3-A501F48C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952875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8D13FFA-0CE6-43EB-A931-36899BAF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62425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역할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03D1D3A-3A6F-4D4F-B497-030AF165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62475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44054"/>
                </a:solidFill>
              </a:defRPr>
            </a:pPr>
            <a:r>
              <a:rPr sz="1275">
                <a:solidFill>
                  <a:srgbClr val="344054"/>
                </a:solidFill>
              </a:rPr>
              <a:t>마케터 UI와 비동기 발송/분석 백엔드를 분리</a:t>
            </a:r>
          </a:p>
        </p:txBody>
      </p:sp>
    </p:spTree>
    <p:extLst>
      <p:ext uri="{BB962C8B-B14F-4D97-AF65-F5344CB8AC3E}">
        <p14:creationId xmlns:p14="http://schemas.microsoft.com/office/powerpoint/2010/main" val="20437332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AF21B1-20C3-4C2C-A1F5-8C886D0B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C75A4B-2DA8-4AD9-926A-07C16D29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3D7F1F-EAC7-473F-857B-051012E6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DD6DDD-E256-4EE2-9136-B0D9A7BD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DF5793-905A-43C1-84A3-C34CFFCE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CA8D58-885E-43A8-9228-066F77EC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088348-2556-419F-A87D-44B69DDC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B2907A-63B6-47E1-AD5E-6971CB86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5AC1D8-E12C-4450-A1E6-36D1D2FB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3F5059-C8C5-4979-822F-92015790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44C3C3-8834-4B51-9948-DD22C1FB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D31B2D-382E-440C-A0C1-82513730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5E95D9-F3EA-4899-887B-FE585ABFF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C9FB8E-7A02-4B99-86E5-F27B6D99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9FF815-14AF-4FFC-882C-31CAA5DC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1C50E7-4932-4B9F-8211-56645490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AFFA9A-4B2E-46EC-9DC7-32B9C9A5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FC5E12-69F6-400A-ABEE-66C0CBD2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2EB481-7D49-4E1D-83DA-50E7D93A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9EB940-5FAD-4AF2-9D6E-99C47B83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598B11-BE81-4EC4-B45B-3AB107B7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5F8790-FFBE-423F-BB37-E02FD27D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1A9B54-01DD-4C44-B2BA-32E3A7A2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E45E84-E59F-4400-ADC6-1435C58A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914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D11B62-3298-4E30-9184-6A6F7680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295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5B4373-368F-44DE-902F-BBFA4019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76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5A584C-9905-4183-BEE0-D31B319D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57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96CA10-F1A3-400E-8066-3C454BBB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38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775B49-06D2-4507-AFF3-ADD7DA94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19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BA3CE7-DFFF-4A02-996C-D4791CD6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00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42EC77-23F9-4254-866B-C9326841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81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E796D6-B4B2-47A0-91CE-B9E17BDC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62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0C1D80-1C5A-497E-9A1F-CA5968F7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43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41F691-5246-4261-A687-96DE4094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24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350961-0117-48A1-8ACE-4CD353C0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05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EE79274-BC2A-4836-9AFA-189B9FC8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486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0D45AC-B150-47AD-8C75-961C3816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E2031C5-8856-4E86-84F6-DC63FE08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248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B55498-D88A-4731-BDB1-77B7023B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629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E94A420-DEB2-454E-A983-610077B2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17A90FF-9CC1-4ABE-8EAF-4537A862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CD2905B-A814-4234-8E46-C5F195BD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95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1828"/>
                </a:solidFill>
              </a:defRPr>
            </a:pPr>
            <a:r>
              <a:rPr sz="1275" b="1">
                <a:solidFill>
                  <a:srgbClr val="101828"/>
                </a:solidFill>
              </a:rPr>
              <a:t>Smart Messaging System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55C451D-EB80-446A-8F61-C64F0DA3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71450"/>
            <a:ext cx="6858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5F89AB2-C3FD-4CFF-AE94-DEFEAD7D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8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버전 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8347950-7019-4D36-9EEB-DCC2141B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810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2B7D9DE-FF2D-4103-9AEC-51D740A0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Cover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2FCC376-1B30-4780-A563-7C376176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811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F95BD57-27BB-4926-8B22-2C8F89EA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Contents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D6D3844-23DC-482E-AB55-BE870763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504950"/>
            <a:ext cx="2914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A6067FA-50E4-45BA-8CD0-AA3B10CE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581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93942D1-A95D-46B4-BA4D-F857968C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1828"/>
                </a:solidFill>
              </a:defRPr>
            </a:pPr>
            <a:r>
              <a:rPr sz="1125" b="1">
                <a:solidFill>
                  <a:srgbClr val="101828"/>
                </a:solidFill>
              </a:rPr>
              <a:t>개요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C699E39-BF57-4368-AFD3-371272A0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9812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04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B1490EF-4B5C-4520-B129-18DFE3FA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아키텍처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03FC8D7-C9FC-4A0B-806B-7CF54E41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381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27F7F5C-35DA-41AC-B465-2DE2E45A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핵심 기능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E4F9220-9AD2-481E-A6FA-8095EE17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7813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06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A6B2BE2-A4D7-4B0F-96DA-0A0DCF98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담당 구현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25D583E-7892-4AB3-8400-09724E45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1813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07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02F1D42-9DDC-4227-92BA-84D4919E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트러블슈팅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F59C365-41EC-4945-911A-523722D5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5814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08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07DF98B-7944-4469-99D6-301DB1B6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산출물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5C76899-1069-4BCE-9864-2C9F4106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9814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09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4CC0E99-A14B-4CD7-900D-3CD73A50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협업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D4A3E17-5A45-409C-BD11-EBAF9A2E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3815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10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BD3CC59-CA71-451E-AC16-9ED65FA1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회고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FBA0472-00EA-453B-AF81-CD5A8527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2865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7085"/>
                </a:solidFill>
              </a:defRPr>
            </a:pPr>
            <a:r>
              <a:rPr sz="1350" b="1">
                <a:solidFill>
                  <a:srgbClr val="667085"/>
                </a:solidFill>
              </a:rPr>
              <a:t>/04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0BC2079-241D-445C-A0DC-B7078D47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391275"/>
            <a:ext cx="1885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1E5A2A0-E17C-44F9-BAF7-202EB1F8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33400"/>
            <a:ext cx="857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1C7E96C-57D9-4D26-BE80-4E1D4DB9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000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개요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F057D19-E937-43ED-ACF3-29902A96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0477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마케터 플로우는 6단계로 발송 전 리스크를 줄입니다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E085613-007E-4289-AB13-5BEAFA66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765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F8E9B34-0B3C-438C-B435-4CFF7592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60032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020"/>
                </a:solidFill>
              </a:defRPr>
            </a:pPr>
            <a:r>
              <a:rPr sz="1800" b="1">
                <a:solidFill>
                  <a:srgbClr val="0B1020"/>
                </a:solidFill>
              </a:rPr>
              <a:t>1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63E1321-E42F-4286-A33C-2D3ED90E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00300"/>
            <a:ext cx="15049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147BA88-1D2F-4F67-B6DE-025EBC8A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0030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40077C1-23E6-4A79-A1DB-82130974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098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고객 세그먼트 선택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E7ADD47-5A15-4DC5-BE5E-4A049FAB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09900"/>
            <a:ext cx="1047750" cy="-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44054"/>
                </a:solidFill>
              </a:defRPr>
            </a:pPr>
            <a:r>
              <a:rPr sz="1275">
                <a:solidFill>
                  <a:srgbClr val="344054"/>
                </a:solidFill>
              </a:rPr>
              <a:t>다음 단계로 전달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3456A64-AF8B-4614-872F-293C342E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8BC56E3-2D97-42A9-BC83-051BE361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60032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020"/>
                </a:solidFill>
              </a:defRPr>
            </a:pPr>
            <a:r>
              <a:rPr sz="1800" b="1">
                <a:solidFill>
                  <a:srgbClr val="0B1020"/>
                </a:solidFill>
              </a:rPr>
              <a:t>2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E862DE3-3D92-4591-ABCD-0903E568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00300"/>
            <a:ext cx="15049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F59A546-1F84-470E-8B22-EC3082B5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0030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D3580CF-CAAB-4BD6-AB40-23739574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098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메시지 템플릿 작성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4143C70-CE1D-4928-A0E5-6215B6AA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09900"/>
            <a:ext cx="1047750" cy="-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44054"/>
                </a:solidFill>
              </a:defRPr>
            </a:pPr>
            <a:r>
              <a:rPr sz="1275">
                <a:solidFill>
                  <a:srgbClr val="344054"/>
                </a:solidFill>
              </a:rPr>
              <a:t>다음 단계로 전달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774DA82-3007-4F73-B4BA-B61E47F8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37A4599-11EF-4B54-845E-3BA0FCBE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60032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020"/>
                </a:solidFill>
              </a:defRPr>
            </a:pPr>
            <a:r>
              <a:rPr sz="1800" b="1">
                <a:solidFill>
                  <a:srgbClr val="0B1020"/>
                </a:solidFill>
              </a:rPr>
              <a:t>3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760E500-804A-4458-AFD8-F9D07A04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5049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CDFAD6E-86E8-481E-BCAD-B78EBCD0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9BB33F8-92F7-4E2C-B718-74CE6E28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098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AI 문구 검토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5B846A7-35F1-47B7-9C98-7BE0FA5B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09900"/>
            <a:ext cx="1047750" cy="-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44054"/>
                </a:solidFill>
              </a:defRPr>
            </a:pPr>
            <a:r>
              <a:rPr sz="1275">
                <a:solidFill>
                  <a:srgbClr val="344054"/>
                </a:solidFill>
              </a:rPr>
              <a:t>다음 단계로 전달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42631BE-F66E-486A-91DC-D2FFF838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05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43322BA-B97B-47EB-8CFC-E9F59F1C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02907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020"/>
                </a:solidFill>
              </a:defRPr>
            </a:pPr>
            <a:r>
              <a:rPr sz="1800" b="1">
                <a:solidFill>
                  <a:srgbClr val="0B1020"/>
                </a:solidFill>
              </a:rPr>
              <a:t>4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E2A955F-4645-4F25-80CD-403BFE7D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29050"/>
            <a:ext cx="15049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35879A4-2312-4AD0-9E33-B909A804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2905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04FE926-1F5A-4ADB-A401-87AEC24C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386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채널 우선순위 지정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0CAE47C-753A-4014-AE0D-6F1DCB21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38650"/>
            <a:ext cx="1047750" cy="-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44054"/>
                </a:solidFill>
              </a:defRPr>
            </a:pPr>
            <a:r>
              <a:rPr sz="1275">
                <a:solidFill>
                  <a:srgbClr val="344054"/>
                </a:solidFill>
              </a:rPr>
              <a:t>다음 단계로 전달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01FC131-309E-4E71-AD4B-6CFC175A0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05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4A1219B-893E-4EB5-A4FD-733EE1B3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02907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020"/>
                </a:solidFill>
              </a:defRPr>
            </a:pPr>
            <a:r>
              <a:rPr sz="1800" b="1">
                <a:solidFill>
                  <a:srgbClr val="0B1020"/>
                </a:solidFill>
              </a:rPr>
              <a:t>5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187FB15-19CB-4AC1-ABC2-D33710361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829050"/>
            <a:ext cx="15049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7CFD76C-3B87-430B-8D47-15BCD02C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82905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5EA53D7-7CBB-4CD8-BFF6-86850C03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386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예약/즉시 발송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FA96793-ECE0-42C0-B5D2-94C78B7B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38650"/>
            <a:ext cx="1047750" cy="-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44054"/>
                </a:solidFill>
              </a:defRPr>
            </a:pPr>
            <a:r>
              <a:rPr sz="1275">
                <a:solidFill>
                  <a:srgbClr val="344054"/>
                </a:solidFill>
              </a:rPr>
              <a:t>다음 단계로 전달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9A85C27-AE78-40AB-8D54-2CD90C46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B05C602-EF3A-4DBA-8CF3-1BEE150E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02907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020"/>
                </a:solidFill>
              </a:defRPr>
            </a:pPr>
            <a:r>
              <a:rPr sz="1800" b="1">
                <a:solidFill>
                  <a:srgbClr val="0B1020"/>
                </a:solidFill>
              </a:rPr>
              <a:t>6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64AE34F-8A4F-419D-8B0B-DC749937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829050"/>
            <a:ext cx="15049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3128AB3-754E-4709-9588-D6CE91C2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82905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C4DF26B-A412-48CC-BA13-73444F70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386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통계 확인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CDA1AEC-7539-406B-9918-9CA16DA5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38650"/>
            <a:ext cx="1047750" cy="-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44054"/>
                </a:solidFill>
              </a:defRPr>
            </a:pPr>
            <a:r>
              <a:rPr sz="1275">
                <a:solidFill>
                  <a:srgbClr val="344054"/>
                </a:solidFill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7843571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7A3ADF-BB34-4D3A-939F-00B18360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FE59F2-40E8-4BDA-84FA-EF848179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9278F2-E8B5-4DF2-B255-096AB7AC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47C4D8-8F72-4A11-A9C0-4F8B4B1B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D6AB79-A870-46D0-8712-8F0844D6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97F7B3-2655-47F8-9FB5-7E5E6EFA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ACCB5D-08CE-4483-82F2-0B6F04D2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CD8447-402B-442F-ABC4-1B5FBDE0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66B429-3EC7-4C27-8D65-51608971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A86F1F-A1AB-4A02-8AC1-F2F9DB10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181EEC-1801-48CB-A730-0D42BFFD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08B1A4-745F-48C0-AF10-28B34E03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E16C65-E4AA-4FFC-9953-35BA05DD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853891-0708-44A9-966B-5A60DDCD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73701F-8F90-48E6-AC06-D3B14D53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2D26FD-F924-4B49-825C-DB20DD7E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7E5488-FC15-4246-A146-615C1E2E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723A2D-A20D-4C87-8E96-B2C43D4B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32AAF8-D516-4E32-98E9-A7CA2F13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E56DBD-A41B-4A4B-877E-6707D27C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427C70-0938-420A-A272-77FF5196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DD5DDD-EA71-469A-8363-BC137436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38E921-E51B-4068-9D62-71AD968D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E2B30F-A07A-40F3-B75C-FA0B68D6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914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7C6B9D-A9C2-40A6-9427-A4840B2B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295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1DA0AE-A647-4FA3-8A10-8102E79E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76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92531F-AF3D-4A21-91E2-4E77A2C5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57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DF7D97-EACC-48E3-8A29-BBABDD67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38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EA9ACA-5AB6-4102-8FF0-227CC9F5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19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3A2523-EDAA-4F34-A96C-83F59728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00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87E13D-1120-44A2-998C-0B69A7B7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81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52B07C-5A66-484D-BF43-3414B3FB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62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A5E371-357A-49AF-974B-13193E73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43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F88E5D-6D15-4037-B14D-4ADE5D7D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24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CD821F-EB36-4005-82EB-AE8AD994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05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745435-8C3E-4490-9928-3D68082C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486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CED7A6-BC1F-4C80-882E-2555C470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14F1ADB-15F6-49F5-853E-09DC340F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248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C8C2322-1A6F-4302-9F78-C9F9F26E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629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8AF4A7A-4547-4731-97F5-B4580FE2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8FAEBAB-FADB-4C51-B90E-6F65820A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C343D8A-FFC5-42E7-AC53-80874428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95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1828"/>
                </a:solidFill>
              </a:defRPr>
            </a:pPr>
            <a:r>
              <a:rPr sz="1275" b="1">
                <a:solidFill>
                  <a:srgbClr val="101828"/>
                </a:solidFill>
              </a:rPr>
              <a:t>Smart Messaging System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C3827F8-1B33-4101-AD6A-0D0A3C78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71450"/>
            <a:ext cx="6858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74B78AD-523F-428E-8B40-7DEE3A9B4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8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버전 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2B043BF-4F8F-46B4-9551-F91A7C8F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810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4911DE0-B81F-4124-9C1A-649BC68F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Cover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24032DF-B59B-4E9D-8CB8-E033AE6C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811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73EE80F-19E5-4507-BE0C-7537C546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Contents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BD5C450-44FE-400D-8886-A96797E1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581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DF3845D-8C13-4529-84ED-8D6FD328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개요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F0BBF5A-211D-49E2-96D9-2CEE6794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0"/>
            <a:ext cx="2914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340C7A3-6BC2-4E97-8E35-418C6966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9812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B0912B0-26D1-4C7A-A946-B478EFE7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1828"/>
                </a:solidFill>
              </a:defRPr>
            </a:pPr>
            <a:r>
              <a:rPr sz="1125" b="1">
                <a:solidFill>
                  <a:srgbClr val="101828"/>
                </a:solidFill>
              </a:rPr>
              <a:t>아키텍처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78965C-43B5-46B4-9F5F-DBCB4D67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381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55B6CFA-161E-4F15-8FB2-D83C892A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핵심 기능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B366A1F-4C49-4134-BED3-283A7A66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7813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06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E4266B8-2A2E-4EF6-B580-77F602BF7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담당 구현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D9E4CA1-89A1-45E7-8226-CE446C2C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1813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07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C0BD6E6-E61E-4CFB-8E3A-3F8411F8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트러블슈팅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91095D3-54A7-4347-8C1D-78EBA4C6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5814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08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D6D43EF-A2BA-4046-84AF-2569CE0D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산출물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6758873-A8F4-47BB-B5C6-052D0F00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9814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09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4AEA50F-9C55-46E6-A2F1-ADD4490B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협업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EE808F7-D7BF-486F-8AF9-F8AD5F8A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3815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10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4BCB45F-B393-429B-A016-67A5EF54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회고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1E15BAF-A5EF-4B12-A22A-C12E46D7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2865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7085"/>
                </a:solidFill>
              </a:defRPr>
            </a:pPr>
            <a:r>
              <a:rPr sz="1350" b="1">
                <a:solidFill>
                  <a:srgbClr val="667085"/>
                </a:solidFill>
              </a:rPr>
              <a:t>/05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81C44FB-084F-4090-8D9A-BE02A4E0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391275"/>
            <a:ext cx="1885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73ABAD5-23CB-46A9-82EB-010C538E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33400"/>
            <a:ext cx="857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8244AED-ED31-4093-8E34-8765F5A1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000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아키텍처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3F8EB87-490D-4EAF-AE25-8A3125B8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0477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8개 레이어가 발송 요청을 운영 가능한 이벤트로 바꿉니다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8A8DDCD-1E51-4CFA-B578-C268EF63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66950"/>
            <a:ext cx="5810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E871E99-AFD9-4622-BA19-625CE127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43150"/>
            <a:ext cx="539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1828"/>
                </a:solidFill>
              </a:defRPr>
            </a:pPr>
            <a:r>
              <a:rPr sz="1275" b="1">
                <a:solidFill>
                  <a:srgbClr val="101828"/>
                </a:solidFill>
              </a:rPr>
              <a:t>Thymeleaf UI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12BAD1E-4923-49AA-A1FC-1FF43776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24150"/>
            <a:ext cx="5524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89B25BA-3198-4C39-9ABB-061A3C1C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00350"/>
            <a:ext cx="510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1828"/>
                </a:solidFill>
              </a:defRPr>
            </a:pPr>
            <a:r>
              <a:rPr sz="1275" b="1">
                <a:solidFill>
                  <a:srgbClr val="101828"/>
                </a:solidFill>
              </a:rPr>
              <a:t>Spring MVC API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4DA0DA5-59E5-4688-8555-DF9A6FFE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81350"/>
            <a:ext cx="5238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21F48DA-1001-452B-8F87-B8A96FC5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57550"/>
            <a:ext cx="481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1828"/>
                </a:solidFill>
              </a:defRPr>
            </a:pPr>
            <a:r>
              <a:rPr sz="1275" b="1">
                <a:solidFill>
                  <a:srgbClr val="101828"/>
                </a:solidFill>
              </a:rPr>
              <a:t>Service / Domain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C60B9D1-6B9C-45B7-8E44-02D61539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38550"/>
            <a:ext cx="4953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BE95AF8-C631-48DF-8D90-107CD4D8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714750"/>
            <a:ext cx="453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1828"/>
                </a:solidFill>
              </a:defRPr>
            </a:pPr>
            <a:r>
              <a:rPr sz="1275" b="1">
                <a:solidFill>
                  <a:srgbClr val="101828"/>
                </a:solidFill>
              </a:rPr>
              <a:t>MyBatis Mapper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15D0E28-9CA8-4F44-8A32-EFEF485C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095750"/>
            <a:ext cx="4667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B4BFD1D-58F3-42D2-AFB6-E3367626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171950"/>
            <a:ext cx="424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1828"/>
                </a:solidFill>
              </a:defRPr>
            </a:pPr>
            <a:r>
              <a:rPr sz="1275" b="1">
                <a:solidFill>
                  <a:srgbClr val="101828"/>
                </a:solidFill>
              </a:rPr>
              <a:t>Oracle DB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3367983-403B-449A-AD0D-DB53E08B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52950"/>
            <a:ext cx="4381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71158C1-8A84-4236-AB83-ADB5DB20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629150"/>
            <a:ext cx="396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1828"/>
                </a:solidFill>
              </a:defRPr>
            </a:pPr>
            <a:r>
              <a:rPr sz="1275" b="1">
                <a:solidFill>
                  <a:srgbClr val="101828"/>
                </a:solidFill>
              </a:rPr>
              <a:t>RabbitMQ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4F03907-63EC-4ED3-9F4E-27C9A572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010150"/>
            <a:ext cx="4095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D0E4AA7-3799-42DA-A57B-9DF21B80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086350"/>
            <a:ext cx="3676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1828"/>
                </a:solidFill>
              </a:defRPr>
            </a:pPr>
            <a:r>
              <a:rPr sz="1275" b="1">
                <a:solidFill>
                  <a:srgbClr val="101828"/>
                </a:solidFill>
              </a:rPr>
              <a:t>External Channels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9CD612C-D5EF-4162-A6FB-F2320285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467350"/>
            <a:ext cx="3810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0EE4B01-69B8-4399-84DE-E450E6DF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543550"/>
            <a:ext cx="3390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1828"/>
                </a:solidFill>
              </a:defRPr>
            </a:pPr>
            <a:r>
              <a:rPr sz="1275" b="1">
                <a:solidFill>
                  <a:srgbClr val="101828"/>
                </a:solidFill>
              </a:rPr>
              <a:t>Batch / AI / RAG</a:t>
            </a:r>
          </a:p>
        </p:txBody>
      </p:sp>
    </p:spTree>
    <p:extLst>
      <p:ext uri="{BB962C8B-B14F-4D97-AF65-F5344CB8AC3E}">
        <p14:creationId xmlns:p14="http://schemas.microsoft.com/office/powerpoint/2010/main" val="17944950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FCEDD2-0766-48E8-957A-8195FDB6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0DD531-ED8D-4F16-9E69-55F6BF72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8A829F-1C2C-41DC-A411-34DA86E4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F606B8-8820-4C5C-AE90-B09B8279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B0D38F-CA89-47F6-BF4B-E30D6D11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8E9179-7E12-4C71-B460-C82E0E4D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690D5D-4F2D-437F-85EF-3C1C601E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82B3D8-EEBF-4AD7-9E5F-3A84FDB4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43E7D8-07C4-4369-809F-EC65DFE1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5A58AC-5098-4626-B427-08F120AC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769AAC-9BFD-49DE-88A3-EC597D56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D51474-1B84-4947-A337-625EF46D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BFE960-2F99-41D7-A14B-577CE95F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016F9D-CB35-4649-B96A-D7A3E9B7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F71369-6FEA-4955-A60F-6A2192BC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D97431-75BB-4D64-9186-485EB599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2F8DB3-AA27-42BC-89FE-CFC59A9F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7D0F9B-1759-40F1-8C60-6C767712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CE36F4-6105-414A-ABB5-142464A8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96FB9C-3577-4C0B-9373-FFD6FB91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D67539-C616-4522-BD25-F302F58A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2A46C8-4D4D-4377-BCC7-D89E7164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A5D48E-B59B-487C-B412-CE0800B4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D9701A-CD4E-4C41-9FE7-5A7FB218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914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D7D742-EC0C-4EFD-8089-2661C7D1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295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D3A51F-47AD-4E3A-8A80-2105327A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76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2D509F-AB98-4726-B117-52217526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57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511AF0-57F2-40B3-B376-3149003D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38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E69D0A-E3A0-4153-B77C-DF72E76C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19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F8E5A1-8808-48EC-A4AD-2B995844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00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051798-48D0-4FA6-A861-34373F23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81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57A04D-7CAE-4E55-B724-4E3D98F0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62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5CE958-D2FC-4C80-BED6-3DFBDFA2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43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D6A985-58C4-4778-AFE1-DC3AAE5A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24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5B579F-D145-42B4-82F7-310FB3F1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05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EFB213-8B65-4996-B5BD-4DBEDF72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486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CD9D30-CF7F-45F1-829F-8349DFC3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16E670D-4523-4292-8A68-C1D97ED4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248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3BBB5A2-0639-4339-A641-F579304C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629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CEC0AA3-3B3E-4885-B281-393A428E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52AB605-E783-4843-B47A-531177C9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FE97587-4EC9-42DF-A4F0-358D0CA5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95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1828"/>
                </a:solidFill>
              </a:defRPr>
            </a:pPr>
            <a:r>
              <a:rPr sz="1275" b="1">
                <a:solidFill>
                  <a:srgbClr val="101828"/>
                </a:solidFill>
              </a:rPr>
              <a:t>Smart Messaging System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BB79C3D-7207-47E2-A48D-F7569750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71450"/>
            <a:ext cx="6858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E86F77F-A2DC-45AC-B12A-65D80040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8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버전 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3160B21-1B7E-4793-B25B-BCA6234B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810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6A4DDAA-E587-475D-BB9D-1C137B33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Cover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E0E7917-7863-4660-A8B7-D1681DCA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811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781EE4-5E29-4553-B9B9-BAC747F0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Contents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B4A577E-44F1-4B0D-9C72-EDE84789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581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1B2BD86-CA24-41E0-9D79-6EE501BB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개요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73746BB-14AE-4288-8042-B1F40752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9812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CB60E75-47EB-4C3E-96CC-D6866F83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아키텍처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559CFC9-2199-4F02-97AF-7DC22035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05050"/>
            <a:ext cx="2914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0D1BFE2-6752-4E19-B0C9-00DDCBE17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381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D81722C-451F-4A89-ACA8-95A44AFF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1828"/>
                </a:solidFill>
              </a:defRPr>
            </a:pPr>
            <a:r>
              <a:rPr sz="1125" b="1">
                <a:solidFill>
                  <a:srgbClr val="101828"/>
                </a:solidFill>
              </a:rPr>
              <a:t>핵심 기능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D78DF8C-C309-4B79-B13C-772FCF81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7813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06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A50CA7C-D30E-47D6-ABE0-84B0B1CA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담당 구현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71D3E5B-5E04-4AF4-BA00-FAC033E1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1813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07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76C99B-1C85-4DBE-908E-DD5421F2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트러블슈팅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458D36F-30BA-4E6E-9482-1D8B4191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5814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08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4532822-16CE-4ED6-B95A-6C7D5CD1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산출물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54399AD-8D36-4B41-96CA-E51C723A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9814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09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30E5780-0478-4352-9D95-E25E7F18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협업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189294B-3506-4ABA-84F4-44F60B7D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3815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10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5C1BDDB-96C6-40E2-A2B6-A72DC66F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회고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D585035-C154-4A9B-B282-E907BB9C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2865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7085"/>
                </a:solidFill>
              </a:defRPr>
            </a:pPr>
            <a:r>
              <a:rPr sz="1350" b="1">
                <a:solidFill>
                  <a:srgbClr val="667085"/>
                </a:solidFill>
              </a:rPr>
              <a:t>/06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F81E282-CBCE-47E7-A644-D7053B16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391275"/>
            <a:ext cx="1885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EA7DDE9-4854-475B-9B22-AE1E8505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33400"/>
            <a:ext cx="857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1D8E1D1-7440-4D05-B7C4-FE8571D0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000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핵심 기능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168128A-7D0E-46A4-ADBB-2E087BEC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0477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핵심 기능은 준비, 발송, 분석 세 축으로 묶입니다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1DD5558-B78B-4AD1-B19E-CA7AEB50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71750"/>
            <a:ext cx="2286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87DB76F-D8DB-4748-BD94-08F9F244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71750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A92D221-752F-4AF7-9EB0-8B99787D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78130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Prepare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6E78D20-8CF7-44C2-BEE6-0FC552DB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181350"/>
            <a:ext cx="1828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44054"/>
                </a:solidFill>
              </a:defRPr>
            </a:pPr>
            <a:r>
              <a:rPr sz="1275">
                <a:solidFill>
                  <a:srgbClr val="344054"/>
                </a:solidFill>
              </a:rPr>
              <a:t>수신자 후보, 채널 우선순위, 캠페인 커맨드 생성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7216F81-9477-4EEE-B629-79D2DE4F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71750"/>
            <a:ext cx="2286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1393C7B-C243-4189-8BFA-A8B0282C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71750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90667A5-81EC-43AD-808B-0D54A61A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8130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Deliver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72C2A59-E551-41C8-BC38-DA4E4E99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81350"/>
            <a:ext cx="1828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44054"/>
                </a:solidFill>
              </a:defRPr>
            </a:pPr>
            <a:r>
              <a:rPr sz="1275">
                <a:solidFill>
                  <a:srgbClr val="344054"/>
                </a:solidFill>
              </a:rPr>
              <a:t>RabbitMQ 기반 비동기 처리와 실패 격리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7F2DE8D-1DE8-45C7-B0FC-47701177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2286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640F983-9F9E-4F05-8AA1-C673B802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A2C7274-6BA3-4C3C-8A8D-CFA3531D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8130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Learn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A8A9F15-1478-4331-9019-B6CC5C64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81350"/>
            <a:ext cx="1828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44054"/>
                </a:solidFill>
              </a:defRPr>
            </a:pPr>
            <a:r>
              <a:rPr sz="1275">
                <a:solidFill>
                  <a:srgbClr val="344054"/>
                </a:solidFill>
              </a:rPr>
              <a:t>AI 검수, 단축 URL 추적, 통계 배치로 성과 학습</a:t>
            </a:r>
          </a:p>
        </p:txBody>
      </p:sp>
    </p:spTree>
    <p:extLst>
      <p:ext uri="{BB962C8B-B14F-4D97-AF65-F5344CB8AC3E}">
        <p14:creationId xmlns:p14="http://schemas.microsoft.com/office/powerpoint/2010/main" val="11734453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F6A7ED-A5CA-4917-8CFC-10E61BD2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4782C0-FED6-4332-A7EE-D919D22D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DE3A68-9955-48A9-80F7-1A4A02C2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4AEB2C-3FA7-4723-9574-CD8C1FE4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932155-11BC-48EC-BC28-675AA546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3FB8E8-0B3B-4106-BB21-0CB5D2D3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7CFE3F-4140-4863-B462-5FAABF49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0C5247-D277-4940-ACD9-E83F375C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94B2F9-446B-401A-950F-B1150C80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F23713-B77F-427B-ABB3-B614F5A6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DE6B59-D370-45BF-8D65-9E840C71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263A83-1444-464C-BF90-12D19895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69CF32-6C2E-42D6-91F6-A99DE752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1209B1-0A42-4FF3-BCE8-0ABE4934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D776CC-DBC8-4D07-95F3-F5D72A2D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8D3CBE-6040-47FD-85ED-B44AF5C7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6E4905-7E34-46A2-B183-E82FF78E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14C056-F897-4E90-96FC-617684B2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C4C69F-0210-4365-B998-7748A457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3122BB-FE32-4E4F-8AE4-3B84103E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621A09-B369-4790-9E50-695E114E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7B38D4-9AAB-41B6-A2DC-1CF9973D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C532F7-408E-478E-864E-F9F81BBA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43203C-6E25-4CE6-AA6D-985FFFB4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914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39CA19-1155-4953-8636-71229B33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295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A98697-D52E-4155-80D9-196F25AA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76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DD1842-EECD-4553-B413-AE14FC41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57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B62FB9-6A50-48F4-AE3D-00B6FEC1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38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10BFBB-2BC6-4FCF-9F4F-9DD922EC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19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8C0FF0-49A6-4B99-BBCD-E61435C1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00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0CEBD4-C436-4A14-B5A8-24F8C5C7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81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42DA76-EB37-4C84-A16E-B88897B4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62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64525E-E393-4389-B0A2-FEDB36AC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43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C18AF6-A3FF-4B75-8DDB-1299E7BF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24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59C6BF-4964-43D6-AA50-CA35716F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05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798649-B281-4662-B4D1-78BF4888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486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35057E-9235-4C4A-880F-541E977F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9B6325-05B1-4E13-B0FE-780ECE44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248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8333244-D524-46F0-B214-EDF9AB2A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629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54E1529-9873-4B40-9356-B543576D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664726-75E4-46D3-83A5-2F1888E3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89016BA-464F-4E6B-821C-7635095B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95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1828"/>
                </a:solidFill>
              </a:defRPr>
            </a:pPr>
            <a:r>
              <a:rPr sz="1275" b="1">
                <a:solidFill>
                  <a:srgbClr val="101828"/>
                </a:solidFill>
              </a:rPr>
              <a:t>Smart Messaging System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BCFBE61-F25C-450A-86FB-D902762C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71450"/>
            <a:ext cx="6858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A3191DE-E30F-4AFB-9591-521F469E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8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버전 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93F2655-2A2B-42EE-B12A-4F90BFD6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810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2C97315-CEAF-45FA-BE7E-37AF1280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Cover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336DA40-3206-4E72-98BF-B9735261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811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3CBE7CE-3728-482E-8EAA-E304ACF0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Contents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F024966-3577-4531-A466-DB9C1B86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581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0B32C48-0C85-4A25-BFBD-AF1A96D8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개요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6268E2C-61F1-4EA9-B5B1-C6D77AEB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9812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8CD55EB-A455-4608-B4F3-4C9B225D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아키텍처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B47B3B4-9BAE-42E7-B964-F56E6AFB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381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05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BB3335C-6AF7-4757-AA02-16E25060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핵심 기능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2BC0237-57DE-4252-801D-02591A57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705100"/>
            <a:ext cx="2914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5FF2055-4827-4C8F-822B-FAB37F87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7813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06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8DD69BF-87E6-4D16-ADFB-6E9CD67A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1828"/>
                </a:solidFill>
              </a:defRPr>
            </a:pPr>
            <a:r>
              <a:rPr sz="1125" b="1">
                <a:solidFill>
                  <a:srgbClr val="101828"/>
                </a:solidFill>
              </a:rPr>
              <a:t>담당 구현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E2D2298-1260-4A51-A0AF-7F793281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1813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07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A2A4515-0716-4FB6-AF18-A8B3908A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트러블슈팅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C4A6ADB-FF1B-4A45-A983-7E005570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5814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08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9ACA7AD-D7C4-402B-B819-781BD485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산출물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3F9BFE8-F5AE-4727-9C3C-460038BC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9814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09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5F5090D-0D99-41E7-BB44-EC7784D4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협업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5AC5E8E-6D72-4247-82EA-E93A5BF5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3815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10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B226E00-751A-4794-841E-84D2C56C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회고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449BC4B-3A14-4979-97B6-E0F151F0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2865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7085"/>
                </a:solidFill>
              </a:defRPr>
            </a:pPr>
            <a:r>
              <a:rPr sz="1350" b="1">
                <a:solidFill>
                  <a:srgbClr val="667085"/>
                </a:solidFill>
              </a:rPr>
              <a:t>/07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CBD9637-6D21-4576-8102-2B3B650C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391275"/>
            <a:ext cx="1885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D8B6280-6EDE-491F-833A-FB6509A2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33400"/>
            <a:ext cx="857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21A0F9A-F413-47A8-9709-F97F0BBC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000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김준하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D45EDDA-63D8-4288-B4D8-9C943C47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0477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수신자 선택은 채널 동의와 우선순위를 함께 봅니다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537FD03-28BE-486F-AB57-7D55DFC7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76500"/>
            <a:ext cx="2381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04D94E1-02E5-43F4-AFBC-3ECC9EA5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765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2A5BFF3-DAF4-4A2D-83E8-DF512AD6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68605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라우팅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7809503-96EF-46C3-8B56-47BB11F7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086100"/>
            <a:ext cx="1924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44054"/>
                </a:solidFill>
              </a:defRPr>
            </a:pPr>
            <a:r>
              <a:rPr sz="1275">
                <a:solidFill>
                  <a:srgbClr val="344054"/>
                </a:solidFill>
              </a:rPr>
              <a:t>RecipientChannelResolver가 후보 고객과 활성 채널을 조합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E532E41-8F05-4C2B-BF22-CD86DCC1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76500"/>
            <a:ext cx="2381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19A8F5F-3C17-46C6-88B5-DDF126EE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765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EACB247-C34B-44A7-8474-2C3B93CB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8605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우선순위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9E49F47-49F9-4CE2-A31E-9691C1D3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86100"/>
            <a:ext cx="1924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44054"/>
                </a:solidFill>
              </a:defRPr>
            </a:pPr>
            <a:r>
              <a:rPr sz="1275">
                <a:solidFill>
                  <a:srgbClr val="344054"/>
                </a:solidFill>
              </a:rPr>
              <a:t>요청 순서와 채널 비용을 기준으로 발송 순서를 복원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1805ED5-E96A-46EE-AF2D-9325B218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76500"/>
            <a:ext cx="2381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6E47AE0-03CD-4FAD-914B-CF88BE1C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765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40949B0-519C-44A5-967C-0B5CA4C6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8605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근거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7578E06-2892-4130-8F7F-4BA9ADEB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86100"/>
            <a:ext cx="1924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44054"/>
                </a:solidFill>
              </a:defRPr>
            </a:pPr>
            <a:r>
              <a:rPr sz="1275">
                <a:solidFill>
                  <a:srgbClr val="344054"/>
                </a:solidFill>
              </a:rPr>
              <a:t>SendPreparationServiceImpl, CampaignCommandConsumer</a:t>
            </a:r>
          </a:p>
        </p:txBody>
      </p:sp>
    </p:spTree>
    <p:extLst>
      <p:ext uri="{BB962C8B-B14F-4D97-AF65-F5344CB8AC3E}">
        <p14:creationId xmlns:p14="http://schemas.microsoft.com/office/powerpoint/2010/main" val="14378580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D4B0CB-20E5-4D11-941A-086F75B0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6C7C9E-1F6D-4675-9794-F43DC78E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91BD47-7913-4D7E-BECA-C9476E73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B996C5-D74B-472F-83D5-F10B0E34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09CE86-6E8D-4467-9FFA-22BED32D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D6172A-7B58-40A6-A7F7-BA571C4C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CC3885-A48B-4506-BC21-0D42058A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61A2F6-7BB2-43E6-B39C-F9999B65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3820BA-D0B4-4BE0-A327-BC1141CB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10B25D-42A2-498B-9513-AAFA46F5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59A0E8-4DA6-4A89-B4D4-781FC660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1522AD-6532-4D7C-849E-A2976122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5BDEBF-2221-4CBB-BAD1-D23DD000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B7BC50-B2BA-4377-A057-B692CE2F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EE0EED-F87C-4F2A-99CF-04EA9DF9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671E35-FA87-4573-B39C-67AFF41C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F9FE6B-1D10-4971-921E-599EF2B2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ED7036-F75A-4981-84DE-DDC3E685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F27D62-0991-4B99-B8F1-6F96CFF4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545C75-F16E-4C8C-8C4C-47F79DA8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8FA5B9-8F82-48BF-B4E9-00157899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4CFFFB-52F5-460B-9BE0-46A3CF20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F7F850-A1A8-4CA2-BD6A-3953922B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FC121F-9740-426C-AE9A-EE3854CE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914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3530AA-0AF3-4B0C-85A8-A0284BBE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295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F57F49-3FE2-4F5D-AA95-EED3B40D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76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D7FD3B-8127-479B-99D1-76F8D161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57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38B8DC-036C-4DBD-A5EE-4B6DF8C4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38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3D055F-8BD5-4B8E-80BC-0D080858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19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E9FE10-B385-43C6-A64F-026FE2F3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00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451BCF-4592-41F9-BA80-A1060DEE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81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DCFB86-B4D6-4216-A78A-7E5B14C6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62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D1DC67-7FD4-4B74-A8D4-8EBB32A0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43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C71A51-5A15-43AE-B034-55389EFE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24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20A899-7B4B-40EA-9E56-33A3301F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05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C2E8FE-5C4B-4F10-95D3-26A90937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486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4B77AF-6B68-48D0-8C5F-D19AB879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24A49A-CFBC-4631-A20C-37F656B3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248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F49FBD6-169D-416B-A94F-8008A1A1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629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84AB967-8C96-4D4D-92C5-95587011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6E40DFE-3CF8-41A8-82D6-73D33905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7238370-0E39-4D0F-9B43-874A43FA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95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1828"/>
                </a:solidFill>
              </a:defRPr>
            </a:pPr>
            <a:r>
              <a:rPr sz="1275" b="1">
                <a:solidFill>
                  <a:srgbClr val="101828"/>
                </a:solidFill>
              </a:rPr>
              <a:t>Smart Messaging System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67B6209-FE44-4225-A83D-6DEDD3F5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71450"/>
            <a:ext cx="6858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5F2D7C7-955E-48A9-BD2F-D353B290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8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버전 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693C4B3-DB7E-4550-9131-BD415D0E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810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0861152-1426-442E-8188-2F02DE7F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Cover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B333897-07DF-4916-AB00-F76C0656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811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0F9C389-A5C3-4190-AE7F-00DF4A46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Contents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0AD0C99-0224-4997-BADE-6051146D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581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41010CD-1B67-43AD-98B9-E697909D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개요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1DA6377-7511-4039-8C3F-5E579EFB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9812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E7A05B3-059D-408A-A1F6-9AD9AA11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아키텍처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1BD2F6B-96E8-42C4-A89B-E7F569A8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381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05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BCADDAA-E288-4E21-B038-95A1EA2E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핵심 기능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EE89C89-FEE6-4B8F-95C7-0A0E6277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705100"/>
            <a:ext cx="2914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6A488EA-E660-44E5-BB23-198A39C7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7813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06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757A13F-BA9A-4CFA-B683-8C31E7F6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1828"/>
                </a:solidFill>
              </a:defRPr>
            </a:pPr>
            <a:r>
              <a:rPr sz="1125" b="1">
                <a:solidFill>
                  <a:srgbClr val="101828"/>
                </a:solidFill>
              </a:rPr>
              <a:t>담당 구현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A1D495C-21C6-4E42-A74F-A8B2919E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1813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07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9B93DDA-94AC-47F8-8C2E-67E462E6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트러블슈팅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2221182-740D-4371-808A-539739B7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5814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08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269A7A0-9748-48D3-B7AA-B8C16467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산출물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FF47211-CCDB-412E-9010-C72EF2DD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9814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09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7F21563-E0B1-4DBF-9FD5-B9B03FE1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협업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7DAA86B-3186-4D96-AC91-AEA77351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3815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10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EE11184-1BB4-4715-8522-3963A5DF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회고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6878695-CAC2-4D29-85A2-A2169541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2865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7085"/>
                </a:solidFill>
              </a:defRPr>
            </a:pPr>
            <a:r>
              <a:rPr sz="1350" b="1">
                <a:solidFill>
                  <a:srgbClr val="667085"/>
                </a:solidFill>
              </a:rPr>
              <a:t>/08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1B36873-46F0-42F3-9327-ED7FD6AB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391275"/>
            <a:ext cx="1885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5C05E0D-5503-4B2D-9F59-915306FB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33400"/>
            <a:ext cx="857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84D3B98-63C0-4351-B311-230DE0BB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000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김준하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55475E4-139E-4FE3-9DD9-AF6BAEC0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0477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단축 URL은 클릭, 구매, 수신거부를 같은 추적 모델로 처리합니다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4F78DB4-F3BD-4CCF-AD49-85B4D061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765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358D306-C9EC-497E-BDE1-7E248F59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60032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020"/>
                </a:solidFill>
              </a:defRPr>
            </a:pPr>
            <a:r>
              <a:rPr sz="1800" b="1">
                <a:solidFill>
                  <a:srgbClr val="0B1020"/>
                </a:solidFill>
              </a:rPr>
              <a:t>1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6841655-75CE-470E-B593-ABAC5A0C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00300"/>
            <a:ext cx="15049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47F22BF-C31E-4530-BAB0-D7E95582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0030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C213936-618E-4085-8029-0F2B9FAF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098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8자리 코드 생성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BA87656-6AF2-4EF1-9FBC-0E6BF02D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09900"/>
            <a:ext cx="1047750" cy="-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44054"/>
                </a:solidFill>
              </a:defRPr>
            </a:pPr>
            <a:r>
              <a:rPr sz="1275">
                <a:solidFill>
                  <a:srgbClr val="344054"/>
                </a:solidFill>
              </a:rPr>
              <a:t>다음 단계로 전달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3E8F0E1-8ECC-48EE-ACE8-8B30CBEF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6D6101E-1CB1-4710-B624-2E8560DB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60032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020"/>
                </a:solidFill>
              </a:defRPr>
            </a:pPr>
            <a:r>
              <a:rPr sz="1800" b="1">
                <a:solidFill>
                  <a:srgbClr val="0B1020"/>
                </a:solidFill>
              </a:rPr>
              <a:t>2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C289D34-24DC-4BCE-BBC0-4EAEBBE4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00300"/>
            <a:ext cx="15049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9928642-7774-4243-B64C-38FB5671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0030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DB5307D-1D95-4683-A3DF-C7ADA0BE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098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/r · /p · /u 경로 분리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28B3C9C-2FD4-47ED-A169-1D23EC098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09900"/>
            <a:ext cx="1047750" cy="-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44054"/>
                </a:solidFill>
              </a:defRPr>
            </a:pPr>
            <a:r>
              <a:rPr sz="1275">
                <a:solidFill>
                  <a:srgbClr val="344054"/>
                </a:solidFill>
              </a:rPr>
              <a:t>다음 단계로 전달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EAA63FF-103D-451C-8A23-6AEEE187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6A91D72-331A-480A-AD9D-1A0DAA9E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60032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020"/>
                </a:solidFill>
              </a:defRPr>
            </a:pPr>
            <a:r>
              <a:rPr sz="1800" b="1">
                <a:solidFill>
                  <a:srgbClr val="0B1020"/>
                </a:solidFill>
              </a:rPr>
              <a:t>3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2F73AE9-A342-48A2-B024-E6990B13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5049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3C61DC6-B286-4DEA-AE07-3047BB41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45CDEE6-269A-44FA-AC89-EA75129F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098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최초 클릭만 통계 반영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B53A5F6-A742-4B3F-8D1C-588FC723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09900"/>
            <a:ext cx="1047750" cy="-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44054"/>
                </a:solidFill>
              </a:defRPr>
            </a:pPr>
            <a:r>
              <a:rPr sz="1275">
                <a:solidFill>
                  <a:srgbClr val="344054"/>
                </a:solidFill>
              </a:rPr>
              <a:t>다음 단계로 전달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9C17D1D-F985-4131-B262-B62CB1CC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05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C2BAED0-470E-4A48-9772-236F6D56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02907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020"/>
                </a:solidFill>
              </a:defRPr>
            </a:pPr>
            <a:r>
              <a:rPr sz="1800" b="1">
                <a:solidFill>
                  <a:srgbClr val="0B1020"/>
                </a:solidFill>
              </a:rPr>
              <a:t>4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D7391C3-130F-4303-A884-E4008893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29050"/>
            <a:ext cx="15049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24D196F-AD57-47A6-AAA8-88975BCD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2905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7FD04F2-6E4B-441F-AA72-61CFC0A4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386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userUuid와 channelId 파라미터 부착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35CFFCA-A905-493F-99A1-088BECF5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38650"/>
            <a:ext cx="1047750" cy="-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44054"/>
                </a:solidFill>
              </a:defRPr>
            </a:pPr>
            <a:r>
              <a:rPr sz="1275">
                <a:solidFill>
                  <a:srgbClr val="344054"/>
                </a:solidFill>
              </a:rPr>
              <a:t>다음 단계로 전달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6D9F810-103E-4155-901E-54A37A75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05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A11939B-8DAB-4C19-906B-D9A014E4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02907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020"/>
                </a:solidFill>
              </a:defRPr>
            </a:pPr>
            <a:r>
              <a:rPr sz="1800" b="1">
                <a:solidFill>
                  <a:srgbClr val="0B1020"/>
                </a:solidFill>
              </a:rPr>
              <a:t>5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BD04897-28C6-45D5-A372-8F9638DD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829050"/>
            <a:ext cx="15049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20CAC76-DE6E-4697-A785-90B000E4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82905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47E2815-5F9B-4B67-86C6-7FCE6D1B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386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구매 전환은 is_converted로 표시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C3702DE-E27C-4BFD-846B-DE4AAE3B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38650"/>
            <a:ext cx="1047750" cy="-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44054"/>
                </a:solidFill>
              </a:defRPr>
            </a:pPr>
            <a:r>
              <a:rPr sz="1275">
                <a:solidFill>
                  <a:srgbClr val="344054"/>
                </a:solidFill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18072780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DFAF1E-BE7A-4848-B884-548580EA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0D17C5-4A8E-46C0-80D5-6EB5B6A2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E673C0-D76C-4709-953A-F2CB2192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A94997-BDA3-4933-A1DE-9644B76D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7AB71E-BF5B-4A8B-B5D8-2EFADA14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14ACF1-B42B-45EC-9084-D070A3E3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E055F8-E1DA-4709-A10E-F2F914DA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D73FF2-A704-4547-AE36-B9AB9FBE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508425-5658-4514-94A6-EB266C8F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C25641-FA4C-4CE9-A155-A596DB3A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AC70DD-C5AC-49A0-B215-375ECF14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B5E6DB-2C18-4A7B-ADAE-54A0F730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4665BA-7002-4452-8EA2-B11F3B54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49C2BB-3565-4369-B498-58C4E680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705127-101A-4A06-93E3-0AD2DF1F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B47F54-3AC4-40CA-93F8-B90DE1A1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3115AC-4289-4EC6-A724-2B61A79B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5C08D1-0DA3-4C00-98D5-ED4C9EB1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2E795E-4DFA-44CD-9B1B-D5BD3C3B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E2688E-B15C-453D-8BB7-4670A843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BBA4AF-1626-4F90-9471-70A54D90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1E2F96-D557-4E28-9024-910597E2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F3ECEE-53AE-4EFA-B096-7722E73A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392F5D-A8AD-42B3-ACDA-83B8B33C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914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3B4A70-2080-4735-8948-E45302E4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295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B9CC7A-20A5-4FF4-82A3-170F19E1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76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8D8CC2-11A0-467A-8961-3CCF445A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57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0A9709-A0B2-4140-B9D1-3B486761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38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9BC45F-B98B-4E5D-8739-D3BC9F81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19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E6CB32-816F-465D-8591-04AD1B9B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00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79F1D9-EE7E-4243-897D-1E3088C8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81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856EC8-AA5D-4ABF-911F-1C2A4CCE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62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9FC0BF-8A48-4DF6-95A8-301871B4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43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1F4E40-847E-41C5-B27F-B32BF8B8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24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DB3833-AD44-43EF-9FE4-441D3E7B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05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96309C-F9E2-4E24-92B1-4418B7FD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486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26CA107-614E-4432-BFC1-581DDD9B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27A5F6-E825-4338-B813-C3AD040F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248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EBA28CD-D214-41E9-A4AF-80E20610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629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A0DAEF8-65D8-4B70-82F3-02B80E16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43B94D2-CBE1-44BA-BA64-2E0F8AEC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F4FD252-85E2-4448-968A-76800F98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95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1828"/>
                </a:solidFill>
              </a:defRPr>
            </a:pPr>
            <a:r>
              <a:rPr sz="1275" b="1">
                <a:solidFill>
                  <a:srgbClr val="101828"/>
                </a:solidFill>
              </a:rPr>
              <a:t>Smart Messaging System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894390D-1F8E-45AA-AE94-CD48B6E4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71450"/>
            <a:ext cx="6858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5AA29C3-64DC-4591-A59C-7C57A6DD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8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버전 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345E1B0-FFE4-46D3-8A9D-00F822B7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810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A38A6CD-C288-47C7-B176-F734B81E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Cover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F3AF845-2280-4131-82E6-E436DF31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811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0126424-D095-4753-A425-E9BDEEBD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Contents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CFC0F4E-59C3-42B8-A60A-63CAE370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581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FED5B01-7496-4E89-AF9E-B23667CC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개요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66A2AB5-2000-477B-BAC0-784A8859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9812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664E852-B63D-4221-88F5-49EA62EE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아키텍처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E06CF31-73CA-4043-8237-ACA9E697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381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05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388CFD0-0E1D-433A-8EEC-1AB15527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핵심 기능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B86FD3C-EA0B-41BD-867A-9B13606D3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705100"/>
            <a:ext cx="2914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F84ECC8-210B-45D2-951E-8082D5C9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7813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06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99A1561-BFB2-4AF7-B939-D4B128BC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1828"/>
                </a:solidFill>
              </a:defRPr>
            </a:pPr>
            <a:r>
              <a:rPr sz="1125" b="1">
                <a:solidFill>
                  <a:srgbClr val="101828"/>
                </a:solidFill>
              </a:rPr>
              <a:t>담당 구현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A0CC12F-8C97-4463-B584-547A5B09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1813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07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B25E5A7-8D02-435C-810A-6F4EC153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트러블슈팅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16CB45C-C10E-4183-A93E-028C0E83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5814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08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51722BE-314F-406F-8534-8C9BBE53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산출물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F95A2D4-F29F-45B6-9CA4-6151E4A7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9814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09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EF1AF12-B726-4D7A-8465-F1A8EABF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협업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FD3A7CE-E0AC-4F9A-841D-26FCBFC0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3815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10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B3D7CB6-99CD-4885-A21D-37D66C73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회고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E4C28E6-9C48-49F7-A40B-516F7E04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2865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7085"/>
                </a:solidFill>
              </a:defRPr>
            </a:pPr>
            <a:r>
              <a:rPr sz="1350" b="1">
                <a:solidFill>
                  <a:srgbClr val="667085"/>
                </a:solidFill>
              </a:rPr>
              <a:t>/09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3F38379-387A-43C0-BBD6-6DBF04E6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391275"/>
            <a:ext cx="1885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1CF3A03-882C-4BDF-A0D0-346D4280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33400"/>
            <a:ext cx="857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5567BE7-549F-4E88-B8C9-845C0688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000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김영만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6B1C26C-0817-453D-AC44-9E416775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0477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RabbitMQ는 캠페인 큐와 메시지 큐를 분리합니다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F4D6999-5B97-4F3B-9CB6-D209D089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57450"/>
            <a:ext cx="49530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3AFA633-54C4-4024-A015-AB10FA42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717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campaign.command.queue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9F74425-9D71-4770-85CC-9D37F9D8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146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67085"/>
                </a:solidFill>
              </a:defRPr>
            </a:pPr>
            <a:r>
              <a:rPr sz="1875" b="1">
                <a:solidFill>
                  <a:srgbClr val="667085"/>
                </a:solidFill>
              </a:rPr>
              <a:t>↓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CD09DD8-2342-48CE-845E-5BD4F5E7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24200"/>
            <a:ext cx="49530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833C1DD-04E7-4C9A-802B-8A44E7C9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385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CampaignCommandConsumer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D171C04-E1B1-4746-BA37-79C9365C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814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67085"/>
                </a:solidFill>
              </a:defRPr>
            </a:pPr>
            <a:r>
              <a:rPr sz="1875" b="1">
                <a:solidFill>
                  <a:srgbClr val="667085"/>
                </a:solidFill>
              </a:rPr>
              <a:t>↓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9F7FEB2-6705-4BA3-8E0C-476DF106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90950"/>
            <a:ext cx="49530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560C628-2556-49DB-8552-CC6018A4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052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message.send.queue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4D67BEB-E30F-4953-9CCB-3F15F36C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481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67085"/>
                </a:solidFill>
              </a:defRPr>
            </a:pPr>
            <a:r>
              <a:rPr sz="1875" b="1">
                <a:solidFill>
                  <a:srgbClr val="667085"/>
                </a:solidFill>
              </a:rPr>
              <a:t>↓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8CA2233-A8ED-431D-A787-517E7A2F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57700"/>
            <a:ext cx="49530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638A572-DC84-4CE9-8BBF-705B01E7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72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MessageConsumer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6294306-E430-4C8F-9C80-01FD323C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149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67085"/>
                </a:solidFill>
              </a:defRPr>
            </a:pPr>
            <a:r>
              <a:rPr sz="1875" b="1">
                <a:solidFill>
                  <a:srgbClr val="667085"/>
                </a:solidFill>
              </a:rPr>
              <a:t>↓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54454DF-83BB-4741-8E1F-CB370CB1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124450"/>
            <a:ext cx="49530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11D48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1D0E44F-3219-4DA9-88D0-2B2786CB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2387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message.dead.queue</a:t>
            </a:r>
          </a:p>
        </p:txBody>
      </p:sp>
    </p:spTree>
    <p:extLst>
      <p:ext uri="{BB962C8B-B14F-4D97-AF65-F5344CB8AC3E}">
        <p14:creationId xmlns:p14="http://schemas.microsoft.com/office/powerpoint/2010/main" val="17297548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F3BEB7-C42D-4D70-946A-1855B4CB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59E1B0-ED7B-49D0-BACD-D92614B0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572952-E7C6-43D9-8D1A-A16176ED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BA365C-C657-4641-BA45-C9C63D65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33A9C2-A426-4898-B806-357D31A3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69EF32-2B4B-447F-8B30-5D2E7E86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BD9B0B-1911-4EE2-8FB1-BE784A19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1D5E1E-153D-4F1D-A87D-3722F96F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466F68-48B0-409E-AE2A-84BBAA80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CE2520-46CC-481C-8821-044615A4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90C15F-9268-4929-A623-9EE2DFE1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349132-7C97-420A-8045-607D2E88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B45CC5-1947-458E-A65F-D1957297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7D2790-25DA-4C20-8211-2408B4A6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EBF54C-F3BB-4588-954A-870F1609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363270-4ED8-4B5B-8D98-F4018A72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AA44F1-0423-44F5-93B1-CBBD8944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559ABF-D924-460E-9B27-FAFE2E1C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9A1482-F7DA-4AA3-8329-316D4A03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28C2F2-6D2A-41CD-B725-B5A67152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D69ACD-0A48-413E-97F3-AA9A7621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602E8A-D345-422A-8DC1-D1023A18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A53771-4EEA-4912-A057-5D7F413D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BFBFF5-8DDB-40CE-9DC9-5AAB5ECA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914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53E940-37B7-44D1-B02E-08D3044B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295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D191F7-D7E7-4194-B42A-54DDCE84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76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2F2921-C051-4BA2-8551-14A304F5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57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591BFC-7AF3-4836-BA86-F956C51D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38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05C9FF-6BA8-4CF3-ADC8-60BFE07D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19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3671E5-75FC-4575-90F6-4D9F9839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00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25B3C9-2DA6-4D0E-AAC8-DDC974F3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81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5D6444-53C3-4658-82CF-70D02936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62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56D61D-28F4-48B0-9A65-8EA2D221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43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CC4F85-AD52-458A-B553-6BA8960F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24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F0F7DC-98B3-4C7D-AC7B-51ACC105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05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CC8BEC-DFBF-4743-889F-AA72CEC9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486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6072FC-18A3-44E9-9011-54E04941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E0BFCF-9766-4A0A-BC52-2CF5E13D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248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B410865-4916-434B-8FC5-CB5A0DB3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629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FA9244-6B46-42D6-AD2F-B99B9A94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88F2D0F-80D5-4BF3-9E63-CE6A1158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4EE250B-5505-4D7E-BC16-791993DC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95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1828"/>
                </a:solidFill>
              </a:defRPr>
            </a:pPr>
            <a:r>
              <a:rPr sz="1275" b="1">
                <a:solidFill>
                  <a:srgbClr val="101828"/>
                </a:solidFill>
              </a:rPr>
              <a:t>Smart Messaging System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7F75BF1-046B-4FE8-82BC-164340EC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71450"/>
            <a:ext cx="6858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473DE47-3DB0-4703-BAED-E7229D58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8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버전 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EB53F6A-71A7-408B-B17E-D8481B98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810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3C945E8-3B98-4166-BA47-1B08F644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Cover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2082A70-5C8A-4AD3-8B03-DDEDC4E8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811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69B6B52-B139-4D98-ADFF-463C2A3F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Contents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B8CB2F0-E62E-4864-B47D-ED7D0165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581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602A35D-232D-49D6-BB22-5F779971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개요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D333A31-A7FF-4B7A-851B-2A74C9AA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9812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82174F8-C377-4C9F-A38A-BAFED43C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아키텍처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29827C4-C099-4555-A6FA-75A70FAD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381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05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B4613B9-57CE-495A-B388-64AE538C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핵심 기능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B1769E1-8E1D-49B7-8454-36641976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705100"/>
            <a:ext cx="2914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8E9F511-9246-49F3-9A37-C9973EB9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7813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06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9FC84D5-EE28-4E7A-BE24-35BEEB5D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1828"/>
                </a:solidFill>
              </a:defRPr>
            </a:pPr>
            <a:r>
              <a:rPr sz="1125" b="1">
                <a:solidFill>
                  <a:srgbClr val="101828"/>
                </a:solidFill>
              </a:rPr>
              <a:t>담당 구현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4FCFAD2-F82E-452A-95E0-BE55C95A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1813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07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5261499-1D2B-41A6-9F6E-91C67A75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트러블슈팅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3264197-7376-4F69-8A73-ACF8029C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5814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08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56545E1-2881-4653-A2BA-5A61A712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산출물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038CEF5-E7D6-43B0-B889-26023052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9814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09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DAD39F3-4B94-467D-92E9-28799EA2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협업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E649A0F-C05C-476E-B4B1-DFB88ADC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3815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10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0FF1958-1BC3-450E-8519-6256070B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회고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5169513-5E7D-411E-B04A-4F2092BB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2865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7085"/>
                </a:solidFill>
              </a:defRPr>
            </a:pPr>
            <a:r>
              <a:rPr sz="1350" b="1">
                <a:solidFill>
                  <a:srgbClr val="667085"/>
                </a:solidFill>
              </a:rPr>
              <a:t>/10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FACA143-2D80-4315-9D3C-3594784F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391275"/>
            <a:ext cx="1885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FC63FC4-CF89-4072-BEC4-2EB9F507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33400"/>
            <a:ext cx="857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004CA17-1123-4F8E-A215-9D597EEA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000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이주영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598938B-70EA-4DEC-B1BE-2589C910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0477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AI 파이프라인은 룰, 필터, LLM, RAG를 단계적으로 엮습니다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79CFB30-F2D5-466F-AB56-78E7DCDD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476500"/>
            <a:ext cx="1143000" cy="2476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03C50C5-CC44-499C-9836-47B79170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667000"/>
            <a:ext cx="876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1828"/>
                </a:solidFill>
              </a:defRPr>
            </a:pPr>
            <a:r>
              <a:rPr sz="1275" b="1">
                <a:solidFill>
                  <a:srgbClr val="101828"/>
                </a:solidFill>
              </a:rPr>
              <a:t>RuleValidation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84559A3-FF50-426A-9403-9755B5B6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43624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59669"/>
                </a:solidFill>
              </a:defRPr>
            </a:pPr>
            <a:r>
              <a:rPr sz="2850" b="1">
                <a:solidFill>
                  <a:srgbClr val="059669"/>
                </a:solidFill>
              </a:rPr>
              <a:t>1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CBD6EED-4DAD-4090-A2C4-ADDB47FD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724150"/>
            <a:ext cx="1143000" cy="22288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4AD4D11-97E3-4E39-9D40-57CEE0FF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914650"/>
            <a:ext cx="876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1828"/>
                </a:solidFill>
              </a:defRPr>
            </a:pPr>
            <a:r>
              <a:rPr sz="1275" b="1">
                <a:solidFill>
                  <a:srgbClr val="101828"/>
                </a:solidFill>
              </a:rPr>
              <a:t>Profanity Filter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2C92C5B-29F3-43B7-914B-58513384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43624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891B2"/>
                </a:solidFill>
              </a:defRPr>
            </a:pPr>
            <a:r>
              <a:rPr sz="2850" b="1">
                <a:solidFill>
                  <a:srgbClr val="0891B2"/>
                </a:solidFill>
              </a:rPr>
              <a:t>2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F47ECA0-5387-4099-A1CD-B09A17CD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971800"/>
            <a:ext cx="1143000" cy="1981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32CCE71-06FE-4F6B-9597-00BD302A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162300"/>
            <a:ext cx="876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1828"/>
                </a:solidFill>
              </a:defRPr>
            </a:pPr>
            <a:r>
              <a:rPr sz="1275" b="1">
                <a:solidFill>
                  <a:srgbClr val="101828"/>
                </a:solidFill>
              </a:rPr>
              <a:t>OpenAI Moderation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974CF3C-4B38-45B5-9DD9-5D090245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3624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563EB"/>
                </a:solidFill>
              </a:defRPr>
            </a:pPr>
            <a:r>
              <a:rPr sz="2850" b="1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CD38D81-90A4-4F11-BC3E-AABA4C12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219450"/>
            <a:ext cx="1143000" cy="17335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19466F4-FE6B-4C11-AF9D-278A408A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409950"/>
            <a:ext cx="876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1828"/>
                </a:solidFill>
              </a:defRPr>
            </a:pPr>
            <a:r>
              <a:rPr sz="1275" b="1">
                <a:solidFill>
                  <a:srgbClr val="101828"/>
                </a:solidFill>
              </a:rPr>
              <a:t>Gemini Review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9B1E1A3-883C-4280-8BCB-3260452E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3624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8B5CF6"/>
                </a:solidFill>
              </a:defRPr>
            </a:pPr>
            <a:r>
              <a:rPr sz="2850" b="1">
                <a:solidFill>
                  <a:srgbClr val="8B5CF6"/>
                </a:solidFill>
              </a:rPr>
              <a:t>4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3327709-2D86-4A0D-A399-5F24409B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467100"/>
            <a:ext cx="1143000" cy="14859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B2777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1713BDD-149B-4037-9F60-8738B341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3657600"/>
            <a:ext cx="876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1828"/>
                </a:solidFill>
              </a:defRPr>
            </a:pPr>
            <a:r>
              <a:rPr sz="1275" b="1">
                <a:solidFill>
                  <a:srgbClr val="101828"/>
                </a:solidFill>
              </a:rPr>
              <a:t>Qdrant RAG Context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CE421C6-6480-437A-99EA-77181CC6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3624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DB2777"/>
                </a:solidFill>
              </a:defRPr>
            </a:pPr>
            <a:r>
              <a:rPr sz="2850" b="1">
                <a:solidFill>
                  <a:srgbClr val="DB2777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0172027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D2D821-9719-4511-816C-6CC2DB45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73919D-2ACC-43FE-882F-C97137BA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C686FE-6967-4EB0-9FC3-51FB4C54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4EBE0B-126D-4AD5-BC29-351F7F94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C03FB7-BD14-488A-9439-A8953063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84356A-8B26-4CB3-88A3-11164385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5D3E58-9EB4-4517-A020-A04B3E23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ECDF5B-9E1F-4422-B4C4-BD3C1723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AB1648-FAE6-4347-8640-F27D3668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57089F-755F-4899-8CB3-EC64607C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F4893B-0383-4DBB-A3EF-70FF6873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4B9D2F-A558-4B20-B2E2-9D31BB14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9AAFFA-1FC9-4596-9A6A-EDB13FE2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944564-675D-4BB8-BA81-D3AFE8BA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FE9914-2508-4C32-A007-E312DB44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31F815-24FB-4D9D-82F3-DF3E1A17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105AEB-BE65-44AE-B85D-6A75723D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98E009-4543-46BC-B390-7B05F1D3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6C79A0-5D41-44BA-A4B7-39BCDA90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F6C925-F134-4321-B711-ADDB7C2F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675D75-C6F9-41AD-BC7B-45B058C1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E9AC15-E375-49ED-AA19-6258168F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6357E8-1030-4574-8A4A-F96C0286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17AFBC-B484-484D-BBBD-2307B0EC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914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557504-3EAD-473D-A610-62DDDE9C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295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48EA65-010F-4F6D-AFE4-D759E682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76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B355E5-D23C-478E-8E60-E3D24F10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57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C4851C-A6DE-4546-9830-F2E19477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38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71121B-AF1B-42D2-981A-8FAB49D7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19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CA2D8E-7707-4515-B50C-CE1D5C12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00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F5CAD9-1654-4B58-88E0-04FFBBCE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81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17F8B3-03F9-4BC5-B7A1-6E81BE2D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62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77CB24-6ED8-42B8-B8F6-3FED7F21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43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5DE381-F9BA-4BEC-B449-FFAB8343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24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DAB379-2A3E-41BA-8A0A-A4E78A50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05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0CE5C40-27B6-48A4-BC01-3E5EDDD3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486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BF5CA1F-CD84-4F4B-AA86-458746D6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0E61BE3-59DD-4FAA-AF5E-5B2523D6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248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49C01E-E727-42AF-AEEB-82210FF0A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629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3C9E71B-3C1F-4375-B3C2-151E1B5D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26ED572-A02A-4340-8D2B-F2FC4904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B7E7CE5-5C31-47E9-9F26-38D2EBDC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95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1828"/>
                </a:solidFill>
              </a:defRPr>
            </a:pPr>
            <a:r>
              <a:rPr sz="1275" b="1">
                <a:solidFill>
                  <a:srgbClr val="101828"/>
                </a:solidFill>
              </a:rPr>
              <a:t>Smart Messaging System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1FEB97D-B65F-49C7-9385-A0B2C1AF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71450"/>
            <a:ext cx="6858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5CE915C-08C9-400B-8618-0F7C334A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8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버전 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4251295-A8CF-4213-B658-6D707B2D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810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A3FE527-083A-4069-AA49-C46938F3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Cover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8482919-74BD-4A26-9C46-C7C2EDBF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811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9572FD4-131C-4948-BA8A-EBFFE343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Contents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D5930BE-628F-43BD-BF77-F1187053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581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B527BC4-6F4C-4929-8C78-6DA79FA9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개요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CCB5CAC-F48D-47BF-8B6E-CED9C56E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9812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5041CDE-EE90-4D7F-8C38-AB1E074D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아키텍처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6587383-7E32-4EF4-9F05-92D09C12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381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05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D85E88A-7DBD-4B08-8A42-9F0A70B7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핵심 기능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8637072-C725-47A8-98CC-4C6D12CC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705100"/>
            <a:ext cx="2914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295C0A4-23EE-40F1-962F-4BD0B042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7813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06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EDD6ACC-50CC-47D1-A3AC-E0FA2469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1828"/>
                </a:solidFill>
              </a:defRPr>
            </a:pPr>
            <a:r>
              <a:rPr sz="1125" b="1">
                <a:solidFill>
                  <a:srgbClr val="101828"/>
                </a:solidFill>
              </a:rPr>
              <a:t>담당 구현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E3BD254-2C17-48C5-B333-821D81A2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1813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07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768C886-8451-4FBB-B9AC-7A70D19C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트러블슈팅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5918548-220B-457C-A25F-B186107B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5814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08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910836A-ED63-4A45-8C28-00EEE8B9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산출물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F5DA562-135B-44F8-AD8E-69A970ED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9814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09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8AFB1B6-C8A9-4459-82C4-D77545E2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협업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D483B6C-2C11-4FE5-8D7B-6D7E6A42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3815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10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14518AD-2A0C-4780-9B98-650F05F8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회고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932DB9F-4525-476A-B190-4580A454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2865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7085"/>
                </a:solidFill>
              </a:defRPr>
            </a:pPr>
            <a:r>
              <a:rPr sz="1350" b="1">
                <a:solidFill>
                  <a:srgbClr val="667085"/>
                </a:solidFill>
              </a:rPr>
              <a:t>/11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525BD35-DAFE-4CAA-A476-CBAB7E1F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391275"/>
            <a:ext cx="1885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6DA2F6F-9E09-463E-9C68-01260BEE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33400"/>
            <a:ext cx="857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3F63D30-8C6F-4C65-A359-BC92445B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000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이유경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3B7A1A8-7001-49E2-B645-2361A81C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0477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통계는 발송 이력과 short_url 이벤트를 배치로 다시 집계합니다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AB2DF5E-8BC9-4B64-B867-9B939210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76500"/>
            <a:ext cx="3333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B89C73B-C084-4B94-9325-5ED5DFDC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765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18D3EA2-691E-4733-A2F4-5A28F3A7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6860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Message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9F4C97F-7008-408B-9A4D-419AC6C4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08610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44054"/>
                </a:solidFill>
              </a:defRPr>
            </a:pPr>
            <a:r>
              <a:rPr sz="1275">
                <a:solidFill>
                  <a:srgbClr val="344054"/>
                </a:solidFill>
              </a:rPr>
              <a:t>send_history와 send_attempt로 성공률·비용 집계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3756052-59C2-4FE3-9F73-D1DE6821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76500"/>
            <a:ext cx="3333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5901647-8CCB-4C4C-A3B9-B3E12F19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765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900A102-EA16-44DF-8CAF-51792ECE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860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Click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3F55FEF-D038-4B54-BC37-6D2112EB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8610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44054"/>
                </a:solidFill>
              </a:defRPr>
            </a:pPr>
            <a:r>
              <a:rPr sz="1275">
                <a:solidFill>
                  <a:srgbClr val="344054"/>
                </a:solidFill>
              </a:rPr>
              <a:t>short_url.clicked_at을 시간대별로 집계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C36C4FD-5D33-4B0D-9173-85086488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952875"/>
            <a:ext cx="3333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B923426-E3A6-44D0-8CAB-040AA7EA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952875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26B3050-738F-42EA-A3F3-60E6D2EB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162425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Template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41371CF-86B6-4CBD-A3AC-C0850736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562475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44054"/>
                </a:solidFill>
              </a:defRPr>
            </a:pPr>
            <a:r>
              <a:rPr sz="1275">
                <a:solidFill>
                  <a:srgbClr val="344054"/>
                </a:solidFill>
              </a:rPr>
              <a:t>클릭률과 전환 기준으로 템플릿 랭킹 계산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EEFD23E-F38E-404A-8C6F-D86C6D7B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952875"/>
            <a:ext cx="3333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6530F09-B0DC-49C5-9768-CA363B23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952875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2940344-C65A-4E9B-A371-EE573098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62425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Customer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81E94C7-7640-4AB1-AA8E-08F2CEEF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62475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44054"/>
                </a:solidFill>
              </a:defRPr>
            </a:pPr>
            <a:r>
              <a:rPr sz="1275">
                <a:solidFill>
                  <a:srgbClr val="344054"/>
                </a:solidFill>
              </a:rPr>
              <a:t>신규, 휴면, 동의 고객을 일 단위 스냅샷화</a:t>
            </a:r>
          </a:p>
        </p:txBody>
      </p:sp>
    </p:spTree>
    <p:extLst>
      <p:ext uri="{BB962C8B-B14F-4D97-AF65-F5344CB8AC3E}">
        <p14:creationId xmlns:p14="http://schemas.microsoft.com/office/powerpoint/2010/main" val="3384329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7BD3B8-2E15-44DD-84B8-C0D1C48A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D44398-41F0-4F5C-80F8-C4403550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B9C0E3-D8CF-45FA-964B-99E3F228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41BEE4-02F1-47BA-B730-AE2353EC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63B364-EC8F-43AC-89EA-427872C8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8B9560-5EC0-4F1D-9D40-BDB62F5C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67F93A-B527-4793-8F17-204D1D6C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F7C243-561C-4506-9B26-83AC159A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0427A6-BFE8-447B-9585-10689486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96156D-D686-48CF-9B84-4B858AC9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7FD593-7B12-4D26-919F-1BB07962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90E41B-D706-4E47-AB11-A6F484B0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D42C64-55F2-4D38-843F-7A61C7EC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D441A3-A03A-45E6-96BB-AC692B89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783A09-EF88-4302-8BE2-5D8574BF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0D0A51-2242-4CA4-B38F-2452F2D5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140B80-C695-4F01-A1B7-9F37F1ED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E3440B-4F3D-467F-AF37-58DC0657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C5E8BA-982F-4843-AA44-E547120D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E22325-3D31-43DA-96A2-FD4797D0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4517EB-F23C-4ACD-B579-78FFE801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1D0428-9CBF-47F8-A16C-37ACBB76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BB17D0-7F7A-4811-AAA2-1A409F62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56CB38-DA41-4C6E-9025-E1DF87C3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914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63E35D-6372-4E80-9E86-E0B09332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295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8182B7-850A-4545-89A6-30E10DC0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76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AC168D-D43D-4FCD-A851-8CE62297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57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E3AFCB-A94A-46B6-9E20-48EA8F3B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38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92CAE5-83E7-45AB-9195-E8C884DA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19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A478DC-5B84-416D-85B3-11C1E63F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00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45C85F-329C-4EBA-938C-3BA4217A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81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37424E-10DA-4CA3-A668-A8F7D6C8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62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1310E5-1335-4CC6-AFA9-8610B3B8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43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052B12-F393-425B-AFA9-31BA8D03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24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4BB6DF-1D47-40B8-A488-99FB04DA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05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4E8667-E8D6-4869-BC11-DF1FE102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486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A26B832-3F89-4229-81BD-F8415303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235AC8F-F8ED-4808-9047-6B9B4910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248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994FF64-C29A-44C3-BBCA-3979B4ED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629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7B7C851-F4A1-4BAE-A9B2-3C3C2A65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39344C7-6B17-4CE2-82D9-BC0E6153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8BBE0B2-F166-4C54-9AA8-C2084A3B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95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1828"/>
                </a:solidFill>
              </a:defRPr>
            </a:pPr>
            <a:r>
              <a:rPr sz="1275" b="1">
                <a:solidFill>
                  <a:srgbClr val="101828"/>
                </a:solidFill>
              </a:rPr>
              <a:t>Smart Messaging System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220E402-7BA2-40B1-BC8A-DEC9E584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71450"/>
            <a:ext cx="6858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EC03107-7B96-4048-82FC-BEAD6DD7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8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버전 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4738E4A-B175-4A24-86B3-26A2D3CF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810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A653849-D6DC-4039-ADF9-A363E1C5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Cover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D03F58D-DD87-4AEF-808C-76E98D68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811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53E89B7-0C48-4C8F-BCFC-B38171BF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Contents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1625FD8-7EC9-4653-A9D9-9EA7E6DF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581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17FA949-6179-4E57-BAD8-2D0A6364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개요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E95F97D-2474-443B-8C1C-F7957655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9812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7D7EB56-ADB9-4053-A9EA-494D1262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아키텍처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06C1F5B-0DCE-4101-9259-E82A6091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381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05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4EC8605-0D97-424E-8CA5-FDAF7E0F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핵심 기능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C25246D-89FE-4905-9878-5F6B01A3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7813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B905E60-F518-4309-BD57-5E9619A9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담당 구현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74A5A70-5947-4875-9FE0-0B7B0318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105150"/>
            <a:ext cx="2914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5103BF4-5E42-4076-9DBC-7705CF36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1813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07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D42FE31-A251-46CF-93C9-5C89DD78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1828"/>
                </a:solidFill>
              </a:defRPr>
            </a:pPr>
            <a:r>
              <a:rPr sz="1125" b="1">
                <a:solidFill>
                  <a:srgbClr val="101828"/>
                </a:solidFill>
              </a:rPr>
              <a:t>트러블슈팅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1C367D4-0599-47E8-B4A0-4E659F78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5814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08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C909662-00FB-4A2C-A7AF-D9F63A3A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산출물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77EC76C-6769-45B7-8E7C-77693946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9814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09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58A2512-07B3-4AA8-9429-533240B2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협업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1B890FF-F076-4AD0-BF68-6B072048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3815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10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37C8979-E321-4B08-9903-D09AEF2C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회고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F0EC289-28B3-4878-BD28-A0500B9F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2865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7085"/>
                </a:solidFill>
              </a:defRPr>
            </a:pPr>
            <a:r>
              <a:rPr sz="1350" b="1">
                <a:solidFill>
                  <a:srgbClr val="667085"/>
                </a:solidFill>
              </a:rPr>
              <a:t>/12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3BD1D24-64FA-4041-BD2F-0E4FAEC1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391275"/>
            <a:ext cx="1885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E4AF35B-58AA-4B83-8E83-3D3634BB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33400"/>
            <a:ext cx="857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4BB724A-A402-49A2-9D85-DC855320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000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트러블슈팅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1932A37-7A9D-4856-983A-9AF9C866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0477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대량 수신자는 1,000개 단위로 쪼개 조회 부하를 낮췄습니다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52ECA82-ADCF-4B8B-9BCD-7F0E8461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00300"/>
            <a:ext cx="6572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FC80233-7A98-49C2-B73A-1549C76A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724150"/>
            <a:ext cx="60198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D4ED8"/>
                </a:solidFill>
              </a:defRPr>
            </a:pPr>
            <a:r>
              <a:rPr sz="1425">
                <a:solidFill>
                  <a:srgbClr val="1D4ED8"/>
                </a:solidFill>
              </a:rPr>
              <a:t>private static final int CHUNK_SIZE = 1000;</a:t>
            </a:r>
          </a:p>
          <a:p xmlns:a="http://schemas.openxmlformats.org/drawingml/2006/main">
            <a:pPr>
              <a:defRPr sz="1425">
                <a:solidFill>
                  <a:srgbClr val="1D4ED8"/>
                </a:solidFill>
              </a:defRPr>
            </a:pPr>
            <a:r>
              <a:rPr sz="1425">
                <a:solidFill>
                  <a:srgbClr val="1D4ED8"/>
                </a:solidFill>
              </a:rPr>
              <a:t>for (int i = 0; i &lt; customerIds.size(); i += CHUNK_SIZE) {</a:t>
            </a:r>
          </a:p>
          <a:p xmlns:a="http://schemas.openxmlformats.org/drawingml/2006/main">
            <a:pPr>
              <a:defRPr sz="1425">
                <a:solidFill>
                  <a:srgbClr val="1D4ED8"/>
                </a:solidFill>
              </a:defRPr>
            </a:pPr>
            <a:r>
              <a:rPr sz="1425">
                <a:solidFill>
                  <a:srgbClr val="1D4ED8"/>
                </a:solidFill>
              </a:rPr>
              <a:t>  List&lt;Long&gt; chunk = customerIds.subList(i, Math.min(customerIds.size(), i + CHUNK_SIZE));</a:t>
            </a:r>
          </a:p>
          <a:p xmlns:a="http://schemas.openxmlformats.org/drawingml/2006/main">
            <a:pPr>
              <a:defRPr sz="1425">
                <a:solidFill>
                  <a:srgbClr val="1D4ED8"/>
                </a:solidFill>
              </a:defRPr>
            </a:pPr>
            <a:r>
              <a:rPr sz="1425">
                <a:solidFill>
                  <a:srgbClr val="1D4ED8"/>
                </a:solidFill>
              </a:rPr>
              <a:t>}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0C9E1A1-BDB7-4D01-9E2C-6A573981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705350"/>
            <a:ext cx="6572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2522D8D-EA89-431B-8F33-37DB96E5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7053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1836292-B9CA-4E9B-952B-F53717A9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914900"/>
            <a:ext cx="611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해결 포인트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A379A1A-C94D-41ED-97F2-9EE8FA54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314950"/>
            <a:ext cx="61150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44054"/>
                </a:solidFill>
              </a:defRPr>
            </a:pPr>
            <a:r>
              <a:rPr sz="1275">
                <a:solidFill>
                  <a:srgbClr val="344054"/>
                </a:solidFill>
              </a:rPr>
              <a:t>IN 절과 매퍼 조회 크기를 제한해 대량 캠페인에서도 일정한 처리 단위를 유지합니다.</a:t>
            </a:r>
          </a:p>
        </p:txBody>
      </p:sp>
    </p:spTree>
    <p:extLst>
      <p:ext uri="{BB962C8B-B14F-4D97-AF65-F5344CB8AC3E}">
        <p14:creationId xmlns:p14="http://schemas.microsoft.com/office/powerpoint/2010/main" val="65280540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F0185B-B133-47D4-952B-91C0057B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857AF2-107C-43AA-AECB-3A9BD992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7696D0-8CFE-4DCA-8A76-83FB3DF4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639B7D-88B0-42FF-BBB3-031D1EE6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F5F024-298D-4A17-A4DA-AEA01AFA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C02844-9603-4BB3-B890-385E2652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723142-205C-4DD1-AD96-033725AD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A5401E-B5DE-4D55-9024-3056C826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98C58F-2DDA-4DDA-9D03-7FA04650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DFA980-1C7F-44FD-8529-4D33EC4C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DBC0DE-437F-46D2-854E-1E698180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C5A12C-BCAF-4A8C-8C6E-A76D2A26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D5F1A2-502D-40C2-B25F-0E34305D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847C19-BB4B-4411-B85C-B2905CDC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1514F8-13D2-4FBE-BF5A-44E83B67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0862EE-7112-4A86-92EF-4F1F99D0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9E2B0E-EBFB-4822-A1F7-77474D4B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31AA2A-EC30-4C53-BCA8-47572AA1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F2A464-3B6E-4DEB-819E-0F815C16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9FAD6E-0E83-49C1-B7B1-25696317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6E2882-4F04-4BFF-A915-46EB5F0D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6DECC4-95DC-467A-9376-84CDC78E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81F54A-B20A-40A3-B09B-692443E1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906C61-3D84-425D-B8D3-DBEFC3B2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914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6B0EB9-902D-43E6-9915-735AF843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295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529D04-BAE4-4ACA-B5CE-9E261683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76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0C520E-494E-4177-86CC-7BD258E1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57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C94C23-E31F-4B41-8330-EBA83831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38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D8BE51-6877-4510-85F9-A96E52F2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19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085508-42B6-4FC2-9FA0-4B329D09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00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35AA3F-D51A-4E51-8161-47ADCC3F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81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441190-91A5-4E31-8B11-78B12E56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62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08FE6B-DD27-4FFA-9E44-3AFDCF39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43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61DD8C-A3DB-4A7B-828C-349FC879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24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72FCC0-150D-4FF1-B591-6C7591A3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05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6A1654-6A5D-49BE-A823-30DD211C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486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7BFFC7-5BA2-4C13-8380-935B9B6B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1A145C-43DF-4E94-A3D7-5856AD55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248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FF36AD1-9325-40B5-B77B-8BFA8BF0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629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1E7F23D-0675-4DF8-B19D-0802FB1F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5B50790-D7D4-4CBC-9D22-D3C1801B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B1B1887-C269-482E-9E0B-00F93502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95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1828"/>
                </a:solidFill>
              </a:defRPr>
            </a:pPr>
            <a:r>
              <a:rPr sz="1275" b="1">
                <a:solidFill>
                  <a:srgbClr val="101828"/>
                </a:solidFill>
              </a:rPr>
              <a:t>Smart Messaging System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004BDD7-1775-4B91-9A93-67F1CD3D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71450"/>
            <a:ext cx="6858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C7A3999-9CF2-4C89-A44C-44C879BB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8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버전 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C101CBD-1BB0-4F97-82F3-D7EBFAE5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810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4B5CE18-55D6-4712-A528-E4FB2781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Cover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6553F38-C159-4841-A9EE-E180DEE5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811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0670CB9-CEB8-4322-81A3-01AA3BE8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Contents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11387DE-5872-46A1-B7D2-7736D705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581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814A078-5254-4C56-801C-FF65C823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개요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E075AF8-6E26-4793-85EA-F8EFE2BA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9812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9BC53A9-2438-484F-9E6A-D5C73E6B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아키텍처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3463AFF-E6CF-4C10-B33D-17C88CB8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381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05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476DA16-15DF-40AB-B0E9-8B0C4DC7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핵심 기능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684983A-F979-4025-A1B9-C7C05CD2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7813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9EAE7FE-F8A3-4ABE-B991-B3400879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담당 구현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0C41F60-86CD-4B32-8417-A62E48ED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105150"/>
            <a:ext cx="2914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B0727C1-1D43-4517-911F-43BB55EB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1813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07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48DB2FF-E91F-49A6-AC56-9DCC2604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1828"/>
                </a:solidFill>
              </a:defRPr>
            </a:pPr>
            <a:r>
              <a:rPr sz="1125" b="1">
                <a:solidFill>
                  <a:srgbClr val="101828"/>
                </a:solidFill>
              </a:rPr>
              <a:t>트러블슈팅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2F35378-EB55-4A97-B378-9F29A04E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5814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08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4454539-2051-424F-8B84-2F79F2DC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산출물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EBA5FBB-79FA-4601-BB78-E71B946C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9814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09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36DD7F1-5FAA-45B7-BCAB-3422F9DC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협업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403DBA4-2C2B-445F-A9D0-9026F273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3815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10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23523FB-D419-4CED-BE0F-40032D6D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회고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BE2A5F8-5D97-4DA7-9AF6-666600E5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2865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7085"/>
                </a:solidFill>
              </a:defRPr>
            </a:pPr>
            <a:r>
              <a:rPr sz="1350" b="1">
                <a:solidFill>
                  <a:srgbClr val="667085"/>
                </a:solidFill>
              </a:rPr>
              <a:t>/13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C66EEBD-9C8F-4B8D-BF2C-BF93BB42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391275"/>
            <a:ext cx="1885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C735537-0470-4513-9158-B4314808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33400"/>
            <a:ext cx="857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782EDFD-759B-46A2-B616-A9CC4B74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000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트러블슈팅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86BA58C-AF5C-4667-8DAF-3065E71E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0477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실패 메시지는 NACK 후 DLQ로 보내 원인 분석이 가능하게 했습니다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73C1B15-D838-4987-AB24-85573406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00300"/>
            <a:ext cx="6572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36DE5C6-EA16-4D66-B080-707CA9F3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724150"/>
            <a:ext cx="60198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D4ED8"/>
                </a:solidFill>
              </a:defRPr>
            </a:pPr>
            <a:r>
              <a:rPr sz="1425">
                <a:solidFill>
                  <a:srgbClr val="1D4ED8"/>
                </a:solidFill>
              </a:rPr>
              <a:t>channel.basicNack(deliveryTag, false, false);</a:t>
            </a:r>
          </a:p>
          <a:p xmlns:a="http://schemas.openxmlformats.org/drawingml/2006/main">
            <a:pPr>
              <a:defRPr sz="1425">
                <a:solidFill>
                  <a:srgbClr val="1D4ED8"/>
                </a:solidFill>
              </a:defRPr>
            </a:pPr>
            <a:r>
              <a:rPr sz="1425">
                <a:solidFill>
                  <a:srgbClr val="1D4ED8"/>
                </a:solidFill>
              </a:rPr>
              <a:t>.withArgument("x-dead-letter-exchange", DLQ_EXCHANGE)</a:t>
            </a:r>
          </a:p>
          <a:p xmlns:a="http://schemas.openxmlformats.org/drawingml/2006/main">
            <a:pPr>
              <a:defRPr sz="1425">
                <a:solidFill>
                  <a:srgbClr val="1D4ED8"/>
                </a:solidFill>
              </a:defRPr>
            </a:pPr>
            <a:r>
              <a:rPr sz="1425">
                <a:solidFill>
                  <a:srgbClr val="1D4ED8"/>
                </a:solidFill>
              </a:rPr>
              <a:t>.withArgument("x-dead-letter-routing-key", DLQ_ROUTING_KEY)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0DF392A-BAE6-49EB-9744-89C1D24C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705350"/>
            <a:ext cx="6572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E909313-CDB2-45AF-9FCB-494228CA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7053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64094AD-2913-43F6-B681-3FAA2FCC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914900"/>
            <a:ext cx="611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해결 포인트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0217DFE-7997-4C9D-ACF6-1A40C52B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314950"/>
            <a:ext cx="61150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44054"/>
                </a:solidFill>
              </a:defRPr>
            </a:pPr>
            <a:r>
              <a:rPr sz="1275">
                <a:solidFill>
                  <a:srgbClr val="344054"/>
                </a:solidFill>
              </a:rPr>
              <a:t>재처리하지 않는 NACK는 실패 큐로 이동하므로 운영 화면에서 실패 큐를 별도로 모니터링할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3347413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2FA410-C1F4-4301-B58F-868DF18B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B97052-256D-4EFF-8599-229A2D25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05C370-8950-4B3B-A908-AAE9DDDD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4AACED-B823-4756-BB04-2C96FFC8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E9C006-64A6-4922-AC3D-1634A3D4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C386B3-C007-4700-A02C-D9262D8E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AB5339-EFA1-4189-9535-78E98EE4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6CF4AC-C46D-4FA3-9387-BAD6ACD3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6723DA-20E5-4375-81C4-39E0D90F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F67E8D-CEC0-4575-9042-09A7E3A7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615926-2169-4E7F-BA10-00DEDCE0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F44C27-BB8D-462F-80D4-64210902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CCF58D-8167-4B2D-9CFB-ACACFC4B0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E6A693-3E0E-412C-BEFB-4BF053FC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84F213-9172-4ADC-9209-CADACEF7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19D3D8-6666-4EB5-879B-C27369EA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950CEE-366F-4B19-BC56-7CDA26FD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166F4E-94E4-4FCB-8100-E669FD0A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020FB4-A7FA-4F86-9C16-48127D59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6A92C2-81DF-409A-97FE-E2A36104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48C1DA-13C3-49B1-A72F-3A3158EE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05FFC0-650A-4960-934E-B777864B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5A8575-86AE-4DF4-BF61-9C8D7FDA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2130B1-018F-4973-8267-0696086D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914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BC0EDD-E26F-4E23-AE33-89834F72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295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A29BBF-1E94-4B8F-A60A-29EA0434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76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99D62E-B9D0-4A43-BB19-AACD8557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57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8FC206-9DA0-48AB-88F3-E031F138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38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00AA9F-3BD9-41B9-A532-2AAED073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19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ABC5E9-18B9-4721-8BB2-638099EE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00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D7724C-E588-4FF3-BE5D-19F62BE0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81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79CA8E-F963-4C00-9201-76B5C3E3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62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282B1A-E3E4-4C48-B3DF-BD191C57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43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49F9FB-E720-4724-A8DE-27537599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24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4F07DD-6B71-44C2-8E06-D683ECB7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05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0807C2-F0F9-4733-A90E-A640A40C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486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C5285D-9B1F-41CA-9710-B52BF849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AAE439D-5964-41F7-8BD8-04E18B0C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248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E815DC8-6FB9-4F7D-979A-AD962843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629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78674B7-31C8-46ED-958C-AD455B7E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CF77D39-3D07-4841-BFC5-B09D1FA8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4D8AB7E-9230-4F96-BC01-88FF0184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95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1828"/>
                </a:solidFill>
              </a:defRPr>
            </a:pPr>
            <a:r>
              <a:rPr sz="1275" b="1">
                <a:solidFill>
                  <a:srgbClr val="101828"/>
                </a:solidFill>
              </a:rPr>
              <a:t>Smart Messaging System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AAF21E9-1BF3-47BA-8D67-E1F9C9D3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71450"/>
            <a:ext cx="6858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799E3F6-8C88-4DCA-92D3-393E01F9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8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버전 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FFB729D-4839-47E7-98EF-B02882BE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810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49128DA-57CD-44D0-A154-3258633C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Cover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AACF6B6-838E-4494-85BD-D093FE98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811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1633599-9628-4AF6-8E21-594E90C6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Contents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ADD14C0-79CF-4502-B21D-79D4D4B9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581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2A1E68E-A979-43A0-9923-FFEE9835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개요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F73EA46-0532-48F3-9121-76B2E5C0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9812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75B81EA-2320-4F16-9410-37CCCFBA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아키텍처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AFE601D-3903-416B-AA60-F6635C5F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381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05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9705372-4839-47CD-A81E-C30D66A6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핵심 기능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DADD49D-4A7E-4776-9275-62E0E9F6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7813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3C6E09B-53C1-4374-A76F-ECD9591E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담당 구현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3B56C46-DC00-4A40-92BB-3495F1C3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105150"/>
            <a:ext cx="2914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578C2FD-C9F5-4974-9DD5-C556C82F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1813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07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7A92386-F688-40CB-91BA-93218D8E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1828"/>
                </a:solidFill>
              </a:defRPr>
            </a:pPr>
            <a:r>
              <a:rPr sz="1125" b="1">
                <a:solidFill>
                  <a:srgbClr val="101828"/>
                </a:solidFill>
              </a:rPr>
              <a:t>트러블슈팅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F46B261-4E66-418F-9350-84DC0BF8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5814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08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FC595E5-3B41-4FD7-8A4A-EFF89D8E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산출물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23AB90D-BAAA-428A-A906-8ECE7673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9814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09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B603A1B-B00C-431F-9582-12C8006D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협업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1593C7C-9A13-4F33-9C9F-6111F498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3815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10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C027C19-28C5-474B-AEF8-ED19EF09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회고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6C10346-E514-431E-BC63-CE501395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2865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7085"/>
                </a:solidFill>
              </a:defRPr>
            </a:pPr>
            <a:r>
              <a:rPr sz="1350" b="1">
                <a:solidFill>
                  <a:srgbClr val="667085"/>
                </a:solidFill>
              </a:rPr>
              <a:t>/14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FF357D7-4BE5-4173-89DF-59EDE5A3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391275"/>
            <a:ext cx="1885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2F1F98E-B498-43B2-AD4D-79E7FE0D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33400"/>
            <a:ext cx="857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A95A971-B084-4DF5-B594-4DC30CE0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000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트러블슈팅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AE55590-41E0-4181-9D27-72169D93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0477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RAG와 통계 쿼리는 실패와 성능 저하를 분리했습니다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4B930CB-5ADD-4369-98EB-CC6A9FCD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76500"/>
            <a:ext cx="2381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461E6F5-8B2C-422C-B6EA-76F09865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765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2847EEC-18E6-42D9-936A-470EB447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68605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RAG Fallback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42AD85E-71AD-41A0-A426-E9B16DB5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086100"/>
            <a:ext cx="1924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44054"/>
                </a:solidFill>
              </a:defRPr>
            </a:pPr>
            <a:r>
              <a:rPr sz="1275">
                <a:solidFill>
                  <a:srgbClr val="344054"/>
                </a:solidFill>
              </a:rPr>
              <a:t>Qdrant 연결은 lazy bean으로 늦추고 검색 실패는 RagSearchException으로 격리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5F935F2-D9CF-4C0F-A9F7-81FCC0C6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76500"/>
            <a:ext cx="2381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432676F-C9CF-408B-ACE5-78B7316E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765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E253CC3-E811-4505-B4B7-4E1C0E2F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8605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Date Range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77A6478-3C0F-4BE7-B25C-40E796A3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86100"/>
            <a:ext cx="1924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44054"/>
                </a:solidFill>
              </a:defRPr>
            </a:pPr>
            <a:r>
              <a:rPr sz="1275">
                <a:solidFill>
                  <a:srgbClr val="344054"/>
                </a:solidFill>
              </a:rPr>
              <a:t>TRUNC(column) 대신 시작 이상·다음날 미만 범위 조건을 사용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8DD3CCD-CFBE-43A9-9AC0-F8992A33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76500"/>
            <a:ext cx="2381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C2C7DAC-39F7-420F-9081-C8A3A550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765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FA5CAEC-CA68-4192-A9AC-00AEE8CE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8605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Result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AC35DDF-AA27-4951-9917-D70CE911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86100"/>
            <a:ext cx="1924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44054"/>
                </a:solidFill>
              </a:defRPr>
            </a:pPr>
            <a:r>
              <a:rPr sz="1275">
                <a:solidFill>
                  <a:srgbClr val="344054"/>
                </a:solidFill>
              </a:rPr>
              <a:t>애플리케이션 시작 안정성과 인덱스 활용 가능성을 함께 확보</a:t>
            </a:r>
          </a:p>
        </p:txBody>
      </p:sp>
    </p:spTree>
    <p:extLst>
      <p:ext uri="{BB962C8B-B14F-4D97-AF65-F5344CB8AC3E}">
        <p14:creationId xmlns:p14="http://schemas.microsoft.com/office/powerpoint/2010/main" val="132387455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C77607-9952-44E6-8D33-1665716D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E473B0-43AB-42E3-93C5-48D526AA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D2A664-89AC-43D2-ABEB-24C7D5F5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31B189-204A-47F5-A935-C84075B2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FBC63B-4EDC-465F-AEF2-D3E0B319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0387F7-AE4C-42F3-B16F-F0F9BEE1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AED199-4112-470F-B248-6B84327B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2A8CA9-9D30-4DA7-A160-2320C877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66CCE7-D209-4EF3-9685-14B5B45B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629C95-57A6-41C9-A8C7-37BA8A9E1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4E4388-46AA-4561-BAD2-D88B1085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A029CE-A787-4397-8485-B4EE56E9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2F09C5-C476-4B09-B39B-55C5CDFD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58F0E9-7D89-4A77-8A5D-19741FDC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9BF262-BC84-47B0-9DF5-2DF5A0B4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3FF5FB-57BC-4C26-B590-FB6A1EC7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4467E3-6A6E-492B-B73E-6AB8AD99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F037B9-AB1D-47D2-B990-A2EB9FAE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06651E-B647-40EF-8B12-695DC5D5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2B094E-70DC-4CAA-80D2-FCC5E86F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BDEFFE-7935-45B2-B9D3-C422675C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ED62FE-A797-42C7-B0CA-9C2C3DE6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4B0EAE-6A14-47B0-A0EE-FB4A4835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961A6D-E03A-41F8-89AC-322A6AF5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914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DDB51C-7DA1-4964-9A77-D529A776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295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4EE79A-840C-42DA-BF3F-5BEB85DF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76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1BA1B8-9CCA-4D64-8233-C738970E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57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6EFA4A-CD1D-4F71-BA7D-4589868E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38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121C13-3257-436F-9F10-3C81EE02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19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8CF2E1-163D-4C93-A679-6D1C38C3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00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D32F43-88B5-42AF-AD4A-F9D045EA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81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ADD35D-BB8E-4F90-B367-6D26FF8E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62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B94F3B-D831-4CD8-B411-73CDF837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43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77C994-6E35-42B3-BF6C-2F02C184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24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02880C-FC30-42A2-82D8-5EC21584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05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5E6B8A-E2D8-49E9-BFBE-1ADB1AF0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486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DC683A-D4B8-4C1F-8B55-E18D2500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3E8409B-44F4-47A7-8CED-7EF51E38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248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D93C67F-6248-45A6-BEFB-5EBB6A81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629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644B16-DE86-45CC-8CD5-7334E987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25D424-15F6-48B6-A13C-D498D90B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92DBBD9-C8BC-4A2B-9A5F-8ABD70E4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95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1828"/>
                </a:solidFill>
              </a:defRPr>
            </a:pPr>
            <a:r>
              <a:rPr sz="1275" b="1">
                <a:solidFill>
                  <a:srgbClr val="101828"/>
                </a:solidFill>
              </a:rPr>
              <a:t>Smart Messaging System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9013C5D-B1CD-4AA9-B3E7-B89871F6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71450"/>
            <a:ext cx="6858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E4BDA70-68CE-4831-B746-E914405E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8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버전 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48BC0B9-B861-4040-9B85-A33AD149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810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6BF1D38-6C71-4E6D-B683-35BC0537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Cover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12D160E-6130-49A3-B65E-DAF8DDBC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811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BCA99E6-39EA-4777-9E60-BE3727CE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Contents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0B11053-BECF-444B-8352-7F625567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581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A7E7EA9-F807-4AC7-AAB3-6924D44A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개요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0793E17-76FE-4652-A46C-5779079C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9812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AF4F03E-93EB-4AAA-BA97-7974B45E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아키텍처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8AA1E49-68A3-4E28-889E-5A21603C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381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05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501FDDE-02A0-4FB4-B1B9-12C0CD68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핵심 기능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A7AB0F4-E112-4104-893A-D84EF8A4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7813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AC8900C-D785-4FE0-8B83-8ADD5EF7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담당 구현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D3BC8AA-F195-4C12-BB45-17CAD405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1813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07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041117D-FB52-4126-8F0F-08709F4E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트러블슈팅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44C9A11-72FB-459A-8A8D-047F427E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505200"/>
            <a:ext cx="2914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6846912-ABDF-4CCF-AE82-2525A50E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5814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08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5EE9694-7427-41BA-B5DD-E37ACEC0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1828"/>
                </a:solidFill>
              </a:defRPr>
            </a:pPr>
            <a:r>
              <a:rPr sz="1125" b="1">
                <a:solidFill>
                  <a:srgbClr val="101828"/>
                </a:solidFill>
              </a:rPr>
              <a:t>산출물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B6AD4B5-2E05-4ED2-BFFC-320C26BB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9814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09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1E6470C-3D73-4AA1-871D-0F3ECD9E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협업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A4ABF05-BEB5-4061-BE1B-1CD838A3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3815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10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BC6C878-3FA6-4D53-8CDF-277C3783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회고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935F1AA-2EC8-45EE-931E-2D096209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2865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7085"/>
                </a:solidFill>
              </a:defRPr>
            </a:pPr>
            <a:r>
              <a:rPr sz="1350" b="1">
                <a:solidFill>
                  <a:srgbClr val="667085"/>
                </a:solidFill>
              </a:rPr>
              <a:t>/15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3B3730C-26A0-4374-8872-BCF544CD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391275"/>
            <a:ext cx="1885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AB70E75-7D14-4DF3-98B4-00AFFA15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33400"/>
            <a:ext cx="857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CB18F8E-FD80-40C9-AAD3-94BF95028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000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산출물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2F8F093-2AED-46D7-8901-D8304636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0477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ERD는 발송 단위, 대상, 시도, 채널, URL 이벤트가 중심입니다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2A9F6AE-3120-4324-A520-AC48AC2B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76500"/>
            <a:ext cx="1476375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8A267B6-9E32-4A7D-83B1-24008209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479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users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647A069-4E77-40FB-B510-F6FA4469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66950"/>
            <a:ext cx="1476375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BE7E403-B9C3-4803-8192-75565F30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4384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customer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0455DE1-0B45-4D6B-AF43-0450A59B4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76500"/>
            <a:ext cx="1476375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932357F-7892-4F87-91EC-69B9BE32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479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send_history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59C4364-3F10-4558-8E10-C3A8A3DD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638550"/>
            <a:ext cx="1476375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9E3FA95-11EB-4E5B-9148-2393C6471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10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send_target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2CA6B74-42B4-4E0E-B370-585F84AB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38550"/>
            <a:ext cx="1476375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AC5A804-F90A-47E5-983A-77065579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810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send_attempt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A0FA7F2-00CC-4544-8634-B48D167B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38700"/>
            <a:ext cx="1476375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B2777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94E64AC-283A-445E-9BD4-ACE10983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101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short_url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B0548D0-F2F0-4969-8868-90F1D995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38700"/>
            <a:ext cx="1476375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11D48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56AE03C-6A81-4185-A16C-AD66741F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101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message_stat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F6DC16B-8046-41FE-B328-D12CDA57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766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7085"/>
                </a:solidFill>
              </a:defRPr>
            </a:pPr>
            <a:r>
              <a:rPr sz="1350">
                <a:solidFill>
                  <a:srgbClr val="667085"/>
                </a:solidFill>
              </a:rPr>
              <a:t>•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1E0EA34-9E2D-4A0C-8B0E-FE1A9A94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242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7085"/>
                </a:solidFill>
              </a:defRPr>
            </a:pPr>
            <a:r>
              <a:rPr sz="1350">
                <a:solidFill>
                  <a:srgbClr val="667085"/>
                </a:solidFill>
              </a:rPr>
              <a:t>•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BC32ADC-91B1-4951-87FF-A28822E0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719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7085"/>
                </a:solidFill>
              </a:defRPr>
            </a:pPr>
            <a:r>
              <a:rPr sz="1350">
                <a:solidFill>
                  <a:srgbClr val="667085"/>
                </a:solidFill>
              </a:rPr>
              <a:t>•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2EAE3F1-9E83-4EBF-A8EE-04F0D4FC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195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7085"/>
                </a:solidFill>
              </a:defRPr>
            </a:pPr>
            <a:r>
              <a:rPr sz="1350">
                <a:solidFill>
                  <a:srgbClr val="667085"/>
                </a:solidFill>
              </a:rPr>
              <a:t>•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C8FAB8E-750D-492E-BCC7-11589A8B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2672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7085"/>
                </a:solidFill>
              </a:defRPr>
            </a:pPr>
            <a:r>
              <a:rPr sz="1350">
                <a:solidFill>
                  <a:srgbClr val="667085"/>
                </a:solidFill>
              </a:rPr>
              <a:t>•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099A487-3062-459C-BDEA-4D4984B2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148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7085"/>
                </a:solidFill>
              </a:defRPr>
            </a:pPr>
            <a:r>
              <a:rPr sz="1350">
                <a:solidFill>
                  <a:srgbClr val="667085"/>
                </a:solidFill>
              </a:rPr>
              <a:t>•</a:t>
            </a:r>
          </a:p>
        </p:txBody>
      </p:sp>
    </p:spTree>
    <p:extLst>
      <p:ext uri="{BB962C8B-B14F-4D97-AF65-F5344CB8AC3E}">
        <p14:creationId xmlns:p14="http://schemas.microsoft.com/office/powerpoint/2010/main" val="198638703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280E5D-302C-4382-9F83-EFC8678F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F814A0-230E-4B19-B8D2-4632AE48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A016C5-AD7F-43FC-ACD1-3279DE91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77248F-5D4B-428D-8759-913729EA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43CF37-3F16-42E1-A0F2-5FE0EC11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FDC546-5FFF-4CB8-8A5C-E444A3F8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7F2712-FB76-40B1-806A-B6DE0E64D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33B42A-EDFF-4FFD-9875-A7FF7440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60A274-8999-4BD7-B997-3EDC5AC2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7FFA2D-FF9B-4F46-BAE8-3A440FEDF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83ADBC-8EA7-4EAF-9513-6091EF5A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D5EEA1-0289-4662-90C6-AB415A59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BF58EE-9CD8-4FDD-8877-70FF6BEB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0F62BC-C8B5-43AB-B067-9154747F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719C08-EBCE-482F-AD92-925EDFB2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987843-3DB6-4998-8EDD-F018A6E0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81B6C9-959B-4BEF-91C3-3C38A098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A139BF-CE82-4C78-AD21-76BCFDFF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0E77CC-851D-4B2F-9E7F-CED6A7BC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D6715E-0DF3-4F64-95A5-2E4910EC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1ACC02-2AF4-4780-8C2C-C9A6ED04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FBC8C2-6A64-439A-9B95-F37B898E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D34BBD-D0D8-48D8-BCE4-ACF7C0DE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9A50BB-6CAC-4479-A9C2-D90DAF2C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914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3758D4-848D-4D1C-A630-2249C2AA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295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65A7E5-C285-4FFF-B0E5-89631330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76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735868-BBE8-46A7-9CA0-E4AA5589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57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1A7D40-492A-4043-AFA2-5A1A6C64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38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9A7BEF-EF0A-4AAA-A1BE-AF2AFC98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19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C97E1D-74C3-4267-8194-31447D48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00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887009-4FEC-4B8F-BADA-94C81004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81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1B6AFD-5E6E-4BEE-BE3B-35E3CE52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62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97F93D-87D2-408E-967F-CEF3D14D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43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EC376B-2AF4-4BD8-95A1-8C616FF0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24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915B0A-A348-456A-9F6D-F962747F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05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712786-68C1-4F80-9E43-1A10B59C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486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B94D2E1-8495-4E93-AC07-7DA9866F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5A7CD9-21D3-446B-BBD7-AF1E384B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248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4A4346D-48DE-48E9-B2DF-43342B6E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629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FAC8F0E-2D7B-47CB-B366-7384445D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2795008-796A-4BAF-B829-CAF26607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4840461-45F3-45B7-BD42-F0E4AD1F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95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1828"/>
                </a:solidFill>
              </a:defRPr>
            </a:pPr>
            <a:r>
              <a:rPr sz="1275" b="1">
                <a:solidFill>
                  <a:srgbClr val="101828"/>
                </a:solidFill>
              </a:rPr>
              <a:t>Smart Messaging System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590727-002E-4E00-AB70-26C2F02F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71450"/>
            <a:ext cx="6858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5A47830-8CB2-405F-979B-2535E72F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8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버전 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EEA9166-AE60-42B3-B984-7EF03234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810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93A57CD-5C6A-4484-BCDD-E55431F2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Cover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E0F0A4-4CAA-47CF-A17B-85EFC955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811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C126BF8-D6D3-4F22-9194-D4B42D8D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Contents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7077AA9-F215-4347-A63C-D08BA5AA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581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DEED9B6-A63D-400B-A496-60EB3798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개요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39DBEB7-65BE-4F29-B568-A0B2DDF8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9812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87BD2E8-8CFF-4777-B175-22F9EC1C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아키텍처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3505408-DA1C-41AD-891E-88461CD4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381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05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FA9A4DB-4471-4504-8F21-138075DB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핵심 기능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3DBE5A9-5D83-4DF4-825F-673B7752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7813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6D8AEA8-233C-4E7E-BC46-945071E4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담당 구현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E740621-1140-4FB6-BFC5-99D0DBDB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1813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07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DA64FBC-8321-408F-A146-4449F0C0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트러블슈팅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D5F3E93-BC88-40DF-98A6-306EAD38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505200"/>
            <a:ext cx="2914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99B6A73-1A83-45F8-85D5-B3671E65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5814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08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52AC53F-C7AE-42B9-8B18-D2300CD5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1828"/>
                </a:solidFill>
              </a:defRPr>
            </a:pPr>
            <a:r>
              <a:rPr sz="1125" b="1">
                <a:solidFill>
                  <a:srgbClr val="101828"/>
                </a:solidFill>
              </a:rPr>
              <a:t>산출물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C4609CB-660D-455C-BBD2-5E85C507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9814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09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39DAA7A-1495-4CE3-80A3-542F73FF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협업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829C867-C470-4C56-9848-09A7B264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3815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10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E16DD8C-07C7-45DA-ABAA-573E39F2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회고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5F9DC7A-C0E7-41DA-8F4D-9A4AB311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2865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7085"/>
                </a:solidFill>
              </a:defRPr>
            </a:pPr>
            <a:r>
              <a:rPr sz="1350" b="1">
                <a:solidFill>
                  <a:srgbClr val="667085"/>
                </a:solidFill>
              </a:rPr>
              <a:t>/16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62AA2FF-FB9B-453C-BF47-54756B66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391275"/>
            <a:ext cx="1885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D27EF56-5EB0-46B4-AA74-0D1EE64D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33400"/>
            <a:ext cx="857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6B819BC-6357-4141-88DC-CBDD5807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000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산출물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BA37848-F8B6-4566-A35A-FD041678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0477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시퀀스는 요청과 실제 발송을 큐 경계에서 분리합니다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5C482EE-72A6-4DA9-9F1F-21F24A4B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765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738230F-0D56-475F-92EE-24EFFD4D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60032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020"/>
                </a:solidFill>
              </a:defRPr>
            </a:pPr>
            <a:r>
              <a:rPr sz="1800" b="1">
                <a:solidFill>
                  <a:srgbClr val="0B1020"/>
                </a:solidFill>
              </a:rPr>
              <a:t>1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4A5A6FD-C53B-4663-A083-C6FC5967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00300"/>
            <a:ext cx="15049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469A073-C80F-4EAC-9398-C9642385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0030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2366436-EFFA-4D74-A835-8FB095C7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098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마케터 요청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2CA30FE-4A65-4845-A052-8253FD4F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09900"/>
            <a:ext cx="1047750" cy="-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44054"/>
                </a:solidFill>
              </a:defRPr>
            </a:pPr>
            <a:r>
              <a:rPr sz="1275">
                <a:solidFill>
                  <a:srgbClr val="344054"/>
                </a:solidFill>
              </a:rPr>
              <a:t>다음 단계로 전달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0541339-12E4-4261-A6EA-764C9745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68D57B0-C6D4-4BA7-B98C-E3F1BCC8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60032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020"/>
                </a:solidFill>
              </a:defRPr>
            </a:pPr>
            <a:r>
              <a:rPr sz="1800" b="1">
                <a:solidFill>
                  <a:srgbClr val="0B1020"/>
                </a:solidFill>
              </a:rPr>
              <a:t>2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49FB37A-724B-418B-BB41-D7E3EC9E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00300"/>
            <a:ext cx="15049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0615B7A-8139-4FF3-94FD-55513333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0030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4B906AB-CC1A-4506-AA6F-602EFDE8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098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SendPreparation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0DDEB26-B87B-4BFC-93E3-6C4D3FC5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09900"/>
            <a:ext cx="1047750" cy="-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44054"/>
                </a:solidFill>
              </a:defRPr>
            </a:pPr>
            <a:r>
              <a:rPr sz="1275">
                <a:solidFill>
                  <a:srgbClr val="344054"/>
                </a:solidFill>
              </a:rPr>
              <a:t>다음 단계로 전달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BD2208A-63C0-462A-A93A-C60764D7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1D966FE-6D11-409F-8EA9-312EC56C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60032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020"/>
                </a:solidFill>
              </a:defRPr>
            </a:pPr>
            <a:r>
              <a:rPr sz="1800" b="1">
                <a:solidFill>
                  <a:srgbClr val="0B1020"/>
                </a:solidFill>
              </a:rPr>
              <a:t>3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B4C7680-E2EC-4D64-80B9-567618A3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5049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715ABDF-8490-4C06-B6A5-AD4859B1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85B3DD6-68A9-48AE-86F6-93F9AC14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098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CampaignCommandQueue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9A6EC4A-AB28-48B5-80D8-89AA538C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09900"/>
            <a:ext cx="1047750" cy="-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44054"/>
                </a:solidFill>
              </a:defRPr>
            </a:pPr>
            <a:r>
              <a:rPr sz="1275">
                <a:solidFill>
                  <a:srgbClr val="344054"/>
                </a:solidFill>
              </a:rPr>
              <a:t>다음 단계로 전달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5473E82-BE91-4D2F-813B-3A983A01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05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AB57925-AA50-4354-B8B4-6E7E72D3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02907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020"/>
                </a:solidFill>
              </a:defRPr>
            </a:pPr>
            <a:r>
              <a:rPr sz="1800" b="1">
                <a:solidFill>
                  <a:srgbClr val="0B1020"/>
                </a:solidFill>
              </a:rPr>
              <a:t>4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96185B2-0827-4498-AE08-42698159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29050"/>
            <a:ext cx="15049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54BCFDA-84FA-4963-B8E2-32067F02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2905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78BA5E2-A07D-4917-8336-547C8A0B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386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Target 생성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CAA2EFF-9FBF-4C06-8644-B4B56916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38650"/>
            <a:ext cx="1047750" cy="-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44054"/>
                </a:solidFill>
              </a:defRPr>
            </a:pPr>
            <a:r>
              <a:rPr sz="1275">
                <a:solidFill>
                  <a:srgbClr val="344054"/>
                </a:solidFill>
              </a:rPr>
              <a:t>다음 단계로 전달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BFA6D0B-B1EE-4C98-904B-C436D78F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05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8EA7120-9C1B-4E28-8094-2A9F5006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02907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020"/>
                </a:solidFill>
              </a:defRPr>
            </a:pPr>
            <a:r>
              <a:rPr sz="1800" b="1">
                <a:solidFill>
                  <a:srgbClr val="0B1020"/>
                </a:solidFill>
              </a:rPr>
              <a:t>5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BA18606-BD8B-4203-A016-367DD90E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829050"/>
            <a:ext cx="15049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12B4852-E285-4F89-A7C1-C1A01AFB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82905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7CDF9F3-9AEE-4198-B48A-2084BDD3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386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MessageQueue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324B2CA-A1FF-4184-A789-419F47B2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38650"/>
            <a:ext cx="1047750" cy="-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44054"/>
                </a:solidFill>
              </a:defRPr>
            </a:pPr>
            <a:r>
              <a:rPr sz="1275">
                <a:solidFill>
                  <a:srgbClr val="344054"/>
                </a:solidFill>
              </a:rPr>
              <a:t>다음 단계로 전달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D90B495-2C7E-4500-AF3A-6DF94494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9607492-6FF4-4038-A0B2-DA88B5B1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02907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020"/>
                </a:solidFill>
              </a:defRPr>
            </a:pPr>
            <a:r>
              <a:rPr sz="1800" b="1">
                <a:solidFill>
                  <a:srgbClr val="0B1020"/>
                </a:solidFill>
              </a:rPr>
              <a:t>6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A14045A-CFA4-4254-B503-C504666B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829050"/>
            <a:ext cx="15049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C58988F-707C-45E6-9074-9B48A2BE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82905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8289741-D6C2-4A89-8F9A-44EB52D8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386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Channel Sender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DB1F369-79B2-418C-8ADD-54B123D8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38650"/>
            <a:ext cx="1047750" cy="-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44054"/>
                </a:solidFill>
              </a:defRPr>
            </a:pPr>
            <a:r>
              <a:rPr sz="1275">
                <a:solidFill>
                  <a:srgbClr val="344054"/>
                </a:solidFill>
              </a:rPr>
              <a:t>다음 단계로 전달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A553EC6-531C-41EE-B2C2-ADD70FA3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3340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576536D-DC4F-4C4B-8189-2209E8E8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545782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020"/>
                </a:solidFill>
              </a:defRPr>
            </a:pPr>
            <a:r>
              <a:rPr sz="1800" b="1">
                <a:solidFill>
                  <a:srgbClr val="0B1020"/>
                </a:solidFill>
              </a:rPr>
              <a:t>7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9EF4AE9-2585-411A-B8EA-35126329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257800"/>
            <a:ext cx="15049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16BB9DD-5B25-4EB4-9CDE-FD3CB7B4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25780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14B0D76-376B-48A8-97EA-2F890C69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4673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Stats Batch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937BAD56-C64F-4DA7-9BA3-FA05158F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867400"/>
            <a:ext cx="1047750" cy="-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44054"/>
                </a:solidFill>
              </a:defRPr>
            </a:pPr>
            <a:r>
              <a:rPr sz="1275">
                <a:solidFill>
                  <a:srgbClr val="344054"/>
                </a:solidFill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94435291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820504-79E4-4006-BEE7-0CD59B50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DE1F01-9ED8-4BFC-B134-801BABA0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9A7244-A12C-4898-A5B1-2F283288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8353C6-9021-4628-88F4-893F394B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C2A571-92C1-4EB6-9B29-B9CE833C2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C01B27-22DC-4C7A-A2EC-CCF96353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667CA2-9052-4333-84E3-A4C8AA7B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8A02A0-20D6-4732-8E6B-899E2947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743AAD-5697-4745-966A-B4C1C6D4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E35C6C-E9BF-4718-A344-37D68BC4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CB65B2-A194-497A-B4DF-340822B6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661490-F0D4-44B0-9561-0D48E454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4745FD-548C-48AA-8617-01F5723F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B85436-6E01-4016-B3A8-D231582F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9845F2-8055-44F6-8088-90F1ADA3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532703-B3F6-48BB-83C8-76AE6557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7E8AA4-D265-4AC7-B6AE-483CDAE0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47A774-8869-4FEF-AE01-BA2D6881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184249-7D4F-410D-9D3E-39D24E57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C4D414-699D-4E14-9727-1DFBA196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003F20-7221-45FD-81CF-6DEA474A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AE88F6-1726-4F1A-AEA0-F6A6ACC3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B4ACBA-8FAC-4D4C-B39D-0F83061F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FE3409-BE19-40D0-A074-F6E9B438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914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7D881B-BBEF-4C34-9872-F54E9676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295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1E8D96-C550-4BDB-AC14-795E8769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76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1F9B76-3BD5-487A-9004-A31F0055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57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F507BF-7DC9-45B8-8F94-DE804EAD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38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5711E4-3621-4180-A6E3-92AD9039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19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ADF209-7779-4AAE-A770-1942BAB0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00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3C045B-77D4-45E6-A40D-0A8FA3BF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81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578326-8DB8-48F2-8B3B-B11FC33E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62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20DB46-4940-424B-A8AA-4C437739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43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DCE0B4-FB22-4593-BB58-8DDB7DC7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24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6F70DC-B71C-45A2-B830-50880710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05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058406-FCFA-4BCC-8455-C42AA66F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486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7AF785-F928-4A67-9C5C-F5E2EE4D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CB24618-E56D-4813-A3D6-13F600EC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248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D051381-B018-417C-95B1-5EAA854A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629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859093E-2564-4733-BF9E-36390EA6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1C36EEC-1460-40F4-B994-B4C23717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251E9CC-9045-4DDC-BE94-9B8A954C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95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1828"/>
                </a:solidFill>
              </a:defRPr>
            </a:pPr>
            <a:r>
              <a:rPr sz="1275" b="1">
                <a:solidFill>
                  <a:srgbClr val="101828"/>
                </a:solidFill>
              </a:rPr>
              <a:t>Smart Messaging System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4C0F4EB-BED8-4789-96A3-7F324D5C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71450"/>
            <a:ext cx="6858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BB0EB6A-45A8-4DA3-B6AC-851C7DA5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8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버전 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A136314-D0E2-4B1C-B4E6-0C77F3FD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810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70E4071-58CD-4B0B-AEF3-19B1AAD7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Cover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E9B3EBB-B989-4E2A-A76C-4913692E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811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A8221F3-A799-401A-BB29-06F007C1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Contents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2EF9DE6-FCFF-4B94-88BD-4B7CD6F7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581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18DEF26-79AC-477C-9545-2566175C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개요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CC55501-C2AC-4D28-95C4-78AD0A73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9812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9BBCC5D-4219-4D59-9F69-576B663C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아키텍처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DBD512F-9ED5-457E-BEE3-6661F346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381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05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99DA1E1-3813-43E5-8DBC-B0222F61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핵심 기능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0932383-7FA9-458D-BA70-EB707872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7813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8FF3426-02BB-465A-818E-54FE1820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담당 구현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0304F13-51D4-4A1D-B818-7D9CD263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1813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07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0286F9E-4E50-4612-9F76-C6E994E9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트러블슈팅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DF7188F-3F42-4035-B43B-6C73ED66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5814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08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5CAFB80-9774-4F20-A8AD-F999A485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산출물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754B358-DC53-4B0E-B8DF-F7D78E1D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905250"/>
            <a:ext cx="2914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A4EF9B0-9954-4245-9735-FB4033BC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9814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09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D3D14D0-1B66-4BD0-81BE-1E9FC9F9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1828"/>
                </a:solidFill>
              </a:defRPr>
            </a:pPr>
            <a:r>
              <a:rPr sz="1125" b="1">
                <a:solidFill>
                  <a:srgbClr val="101828"/>
                </a:solidFill>
              </a:rPr>
              <a:t>협업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41126C3-C03F-46A5-90DB-859ACA0A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3815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10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71AB047-384B-45EA-87E9-155884EB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회고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4067865-B21B-40F7-B396-C1B03C51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2865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7085"/>
                </a:solidFill>
              </a:defRPr>
            </a:pPr>
            <a:r>
              <a:rPr sz="1350" b="1">
                <a:solidFill>
                  <a:srgbClr val="667085"/>
                </a:solidFill>
              </a:rPr>
              <a:t>/17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57B24F4-3E05-41C1-9381-FFD217FE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391275"/>
            <a:ext cx="1885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E28400C-1A4B-4952-9D91-C76ED495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33400"/>
            <a:ext cx="857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9FF15E8-4EAE-428F-9DCE-A7F3BD86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000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협업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CBD74F4-ABD0-45D5-8A27-2B5E77C0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0477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협업은 Git Flow와 리뷰 자동화로 변경 단위를 관리했습니다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7FFDE8B-150C-4E71-836E-156F7A0B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76500"/>
            <a:ext cx="3333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3CAE632-8087-4AEE-88A0-364F4D58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765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3EC3235-1E17-4952-A68F-1D5B39C6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6860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Branch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27CDA24-C62E-4C89-BC32-A652F9A6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08610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44054"/>
                </a:solidFill>
              </a:defRPr>
            </a:pPr>
            <a:r>
              <a:rPr sz="1275">
                <a:solidFill>
                  <a:srgbClr val="344054"/>
                </a:solidFill>
              </a:rPr>
              <a:t>기능별 브랜치와 PR 단위 병합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094F061-818C-4F8F-B099-361132BA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76500"/>
            <a:ext cx="3333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0F9BA44-0E6E-415F-96B9-0E2B2F2A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765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48E7379-5F41-4D48-917E-382202FD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860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Review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F7B481F-BB1E-425B-BE4B-21EECB0E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8610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44054"/>
                </a:solidFill>
              </a:defRPr>
            </a:pPr>
            <a:r>
              <a:rPr sz="1275">
                <a:solidFill>
                  <a:srgbClr val="344054"/>
                </a:solidFill>
              </a:rPr>
              <a:t>테스트와 정적 리뷰로 회귀 가능성 확인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A289B68-024E-4DDB-978D-3B8FF514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952875"/>
            <a:ext cx="3333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9C19C51-9122-4DAA-A3AE-F94F0E87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952875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DB49F46-AB07-4A14-9316-D26C79EB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162425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Convention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EFAFACD-A8BF-4514-AAB6-4F9A7570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562475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44054"/>
                </a:solidFill>
              </a:defRPr>
            </a:pPr>
            <a:r>
              <a:rPr sz="1275">
                <a:solidFill>
                  <a:srgbClr val="344054"/>
                </a:solidFill>
              </a:rPr>
              <a:t>커밋·코딩 컨벤션을 문서화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3593114-6B6C-4E27-A943-5D41CC2A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952875"/>
            <a:ext cx="3333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F0D045A-3524-40BF-A411-C0C3E3A0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952875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E418F1A-B721-4CE7-ACF2-260B22C3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62425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Evidence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A17C758-1686-4912-8561-C90E9AEF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62475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44054"/>
                </a:solidFill>
              </a:defRPr>
            </a:pPr>
            <a:r>
              <a:rPr sz="1275">
                <a:solidFill>
                  <a:srgbClr val="344054"/>
                </a:solidFill>
              </a:rPr>
              <a:t>Mapper XML 테스트와 서비스 단위 테스트로 핵심 쿼리 보호</a:t>
            </a:r>
          </a:p>
        </p:txBody>
      </p:sp>
    </p:spTree>
    <p:extLst>
      <p:ext uri="{BB962C8B-B14F-4D97-AF65-F5344CB8AC3E}">
        <p14:creationId xmlns:p14="http://schemas.microsoft.com/office/powerpoint/2010/main" val="92382697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53B853-3C5E-415B-9C70-9FA7206F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4DB286-AB32-4E0D-9374-47A98EE8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F0EEE0-19BD-4C91-903A-517DBA9E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E089A1-0B4E-4ED9-BE91-F0C6C64E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B38828-57FD-46B8-85C9-FE6F4E04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5B5A78-3663-4CCD-99A4-C3960439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93D7B1-8D50-46D0-9D88-50AB7E05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96CAD7-64F0-4BE9-9ADA-BC73C444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ADF091-2A31-4844-AC3E-38FEDAB6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C94B92-9296-43CB-9617-F4FC94C8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E3B51B-6DFE-4E5A-BAC7-D48E256D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20D5FD-CE0D-4C61-A697-F1514F60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5734CE-0DC5-44DD-B499-443359A0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DAEDC7-23D3-48C4-9236-3A3B4E39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9DF3E5-AD4E-4D67-9AA8-D98FB32B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77F312-6B31-4126-A1F4-45D0ED9C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181B71-9D75-40C7-9CBF-12207872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3AA0C2-B4C4-4831-82DA-7473390D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BC8325-2F6C-4907-90CE-3D4360B1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718237-1434-4BB9-8F5F-79B1F9A4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0F4561-CDC8-4C78-89A7-D4D9B79E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9DE940-A93C-43DB-A281-166A1A76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4DE30D-015A-4729-BFCB-4F3A2870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663B59-74A6-4B14-8A9B-64094ED3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914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A8E4C1-B93E-4C62-ACB6-17D4ED43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295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6417CF-48B7-49A5-AF90-A1240BA9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76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7395D9-B6F2-4DA7-9CB9-F0803A2D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57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0D70D1-41E1-41C0-BB96-5308E09D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38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ED17F1-30E2-4F4B-8E06-5902650F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19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67C299-BF39-4E3E-B7D0-515D87BC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00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E609D7-D82F-4060-957C-F80874B7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81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9398C7-3762-4055-8A9F-9093BDA2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62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C2F3C8-C108-48D4-81A4-80F36C22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43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6AD29E-6044-40E7-8F52-21689102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24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38486E-4AED-49C1-AE5C-B0A98D94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05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EE7600-FB68-4007-91D9-21640A30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486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AB5C33-E989-445C-977F-B899B4AB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50F006-38B2-41B1-A0B5-5B8577B3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248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42EFA31-AA87-4F18-ADC6-8D441D9A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629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F253B27-52AF-4BC5-BD8A-8DB76743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6B96824-3FEC-4B30-BDBC-86F43EE5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467042D-55CC-49E9-A752-15CDC3F2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95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1828"/>
                </a:solidFill>
              </a:defRPr>
            </a:pPr>
            <a:r>
              <a:rPr sz="1275" b="1">
                <a:solidFill>
                  <a:srgbClr val="101828"/>
                </a:solidFill>
              </a:rPr>
              <a:t>Smart Messaging System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B03E980-E2C2-480B-9BB4-1BD06B5C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71450"/>
            <a:ext cx="6858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442D9B8-BBB2-4D6C-8568-7996F098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8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버전 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74E6E6D-C1F8-4D0F-BBFC-1F9E7868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810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ECE990D-CA6E-4A39-AE44-966B4CF1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Cover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BC06BC7-7CFF-474C-96EB-796CA03F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811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6BD9B08-21BE-43CA-8F71-176FEE71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Contents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68C4888-840B-421A-8B84-911494A9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581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029E9A1-5234-44CA-B665-462F2C45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개요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81692CC-3027-49E1-B278-CB1EA3D4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9812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2A3DB1C-6425-40C1-B015-C66C20EA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아키텍처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C9667EF-DF22-4014-98EC-3FD91EB3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381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05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B1FDCF6-04A8-4C83-9E14-9F60A0DF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핵심 기능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15990C4-6A80-49DA-9B6C-51C813E3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7813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679D48B-1244-4D68-8576-78302D36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담당 구현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95AF31D-E1E3-48A4-A6FF-70FDB78E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1813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07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D1F3FA4-F6E6-42FF-93C7-CE463461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트러블슈팅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9EFC114-CA95-41F1-8CC3-23C90CF7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5814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08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6B0BFBA-E072-4B9A-A6D8-47BA8A0F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산출물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30841EA-09A0-4EB8-ABBD-663E1980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9814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09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D111988-8095-4155-8BB8-6A7BD5CA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협업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326E5D9-E9F4-4FE9-BF25-118E6D1A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3815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10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FAC54F4-DA08-4C69-B6A7-3A83007A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회고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0109B41-7789-4AA6-B8E7-53C0F738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2865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7085"/>
                </a:solidFill>
              </a:defRPr>
            </a:pPr>
            <a:r>
              <a:rPr sz="1350" b="1">
                <a:solidFill>
                  <a:srgbClr val="667085"/>
                </a:solidFill>
              </a:rPr>
              <a:t>/18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415C579-A47B-4F19-BD57-34EE780C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391275"/>
            <a:ext cx="1885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1254BA3-4055-4843-904F-611F5AA0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33400"/>
            <a:ext cx="857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B80C740-31E1-4A60-90C1-8F07E153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000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한계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2085107-081F-443B-8E72-14419173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0477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현재 한계는 운영 안정성 관점에서 다음 과제로 이어집니다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F6BFBB6-2A62-4BD8-8922-5769A593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76500"/>
            <a:ext cx="3333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F58B823-CF9B-44EE-B283-C9CAFBD9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765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DFDE1AE-B55A-4BB4-8F5D-25FBCEB8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6860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현재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F437B1E-068F-4CF8-8AB4-DE336DCF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08610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44054"/>
                </a:solidFill>
              </a:defRPr>
            </a:pPr>
            <a:r>
              <a:rPr sz="1275">
                <a:solidFill>
                  <a:srgbClr val="344054"/>
                </a:solidFill>
              </a:rPr>
              <a:t>외부 채널 장애에 대한 세밀한 재시도 정책 필요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704BCC5-FA45-41E4-B96F-4E5AC58D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76500"/>
            <a:ext cx="3333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880DAC9-D08D-4D0E-81E7-69A3D5DA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765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3799BB7-E229-47C0-8765-FC16D295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860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현재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DEA34B3-B6AC-45CA-8867-2B20B4BC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8610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44054"/>
                </a:solidFill>
              </a:defRPr>
            </a:pPr>
            <a:r>
              <a:rPr sz="1275">
                <a:solidFill>
                  <a:srgbClr val="344054"/>
                </a:solidFill>
              </a:rPr>
              <a:t>DLQ 재처리 UI와 알림 체계는 확장 여지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88B4371-E3E6-43E6-95FB-1826A415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952875"/>
            <a:ext cx="3333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3C8C7BB-95D4-4123-B98A-A8592BE5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952875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1E5BF90-56E9-4532-8DB3-9DE1926D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162425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로드맵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DF1375D-43D4-4773-BB50-49E3456C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562475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44054"/>
                </a:solidFill>
              </a:defRPr>
            </a:pPr>
            <a:r>
              <a:rPr sz="1275">
                <a:solidFill>
                  <a:srgbClr val="344054"/>
                </a:solidFill>
              </a:rPr>
              <a:t>템플릿 A/B 테스트와 자동 추천 강화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2651532-38BA-483C-9345-A8CE8D1D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952875"/>
            <a:ext cx="3333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6DB0E14-787D-4672-BFB7-22A82CB1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952875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DF0F4A4-B47D-484A-8AA0-848DF5E3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62425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로드맵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96F1A6C-D81A-4186-99C8-3B86BFF8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62475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44054"/>
                </a:solidFill>
              </a:defRPr>
            </a:pPr>
            <a:r>
              <a:rPr sz="1275">
                <a:solidFill>
                  <a:srgbClr val="344054"/>
                </a:solidFill>
              </a:rPr>
              <a:t>RAG seed 운영 관리와 지표 기반 개선 루프</a:t>
            </a:r>
          </a:p>
        </p:txBody>
      </p:sp>
    </p:spTree>
    <p:extLst>
      <p:ext uri="{BB962C8B-B14F-4D97-AF65-F5344CB8AC3E}">
        <p14:creationId xmlns:p14="http://schemas.microsoft.com/office/powerpoint/2010/main" val="70824839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A49708-2A4B-467D-9976-47B49E7C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FDF2B6-5A74-4059-AF70-FBA3F2D0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F75EC8-7BAE-403F-8B5E-D43DB53B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7E8807-BED3-4C4D-A3C3-ECC8E583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431BCB-E6E0-47CB-B55A-AAA35AAF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5BD5CC-66B2-4615-8084-85DD291C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6A6138-BDC8-4C18-81DD-CEC8FA4E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94961B-7F86-45A8-928B-8574378D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4B6D8F-9BBD-4AD4-961B-E8800204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B02422-995F-4826-A7CB-308BF4BB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234A8F-F317-4C4D-B9F5-A0A81704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765A6C-86F3-4221-B791-378AF175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AE2641-B52C-4CF6-94C9-AA0454E8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4CE41B-67A4-4AF4-87ED-F2723F3D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19E8C9-62D4-4DCE-8DA4-3008A03D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F48047-92D9-4755-8022-2A8648F0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DF7B96-8B46-44FF-B463-8B5EF9D8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C86EB8-6609-490B-B476-D79FF1D8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D345E4-EBCC-4678-B77E-49ADEB1D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53FB65-1DF7-4721-BAA7-EBF3E087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F99725-EA72-4C96-87AD-36950827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B2A024-3D6B-444F-9A7A-DFA86FA7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A854FE-7166-4A2C-9C5A-5FDDF00A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8382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179D8B-F487-4806-B633-E85BEB6F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914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070B66-964F-46BA-90C4-B2608040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295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4CF4B7-9E29-424B-BC9D-6FEC0871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76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C9FF0D-12A9-4D78-84FF-2A33ED4C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57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100C90-2D8F-41C0-9659-CA880A9F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38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EE846E-C972-4B20-B61F-1067B376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19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D4BA2B-C17B-4977-85A1-0B09B21D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00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E74E0E-67A6-48D7-986A-23F533F1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81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46601D-6FB0-428F-BBA2-856F5FB0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62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321D67-4567-45CE-BF69-E3FD6CB8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43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8FAD8D-478C-4F8A-BAB1-719C6D01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24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5222A7-D9EF-45C4-98CB-D9539F0A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05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02655D-BB02-4DBD-8533-0467071A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486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F58517-50E5-4D0F-B2A6-5CE60E56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693A30D-C77F-40C9-9FC4-7B5E5FBD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248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BD91F42-EC0D-4E8C-96D9-548C6312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629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4A3974-CB55-4FF3-999B-D6C21FAF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CD55184-F1DB-4219-9E1A-C7EFBB7C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62951E7-D973-456D-88F2-6D8345C6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95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1828"/>
                </a:solidFill>
              </a:defRPr>
            </a:pPr>
            <a:r>
              <a:rPr sz="1275" b="1">
                <a:solidFill>
                  <a:srgbClr val="101828"/>
                </a:solidFill>
              </a:rPr>
              <a:t>Smart Messaging System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A88334C-A53F-4056-B0CB-BBCA9B65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71450"/>
            <a:ext cx="6858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724F3C9-A333-46FA-850E-A42CD250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8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버전 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234D35F-33EC-49EA-A810-6A310803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810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BA45717-EF38-4029-891C-9B5DEDAC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Cover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3A345C2-04CD-4566-AF3D-F5AE78A3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811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2156F27-70CB-4B78-BAD4-0F2B6933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Contents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CDCBB79-D52E-4DBA-9B91-1F251632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581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9E2F951-DBAB-4E2D-BCBB-EDB6E435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개요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CA161AC-E002-4BA0-9F82-6CAEFA5A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9812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71DADA6-C16C-48DC-92E1-BBDBAEFF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아키텍처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5BD691D-BB2A-4E6B-8423-41584523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381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05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DA77B50-F5E8-45A2-8BFF-124EB3DA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핵심 기능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B95321F-0577-4F15-88D4-D82DB897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7813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EBAE236-06B0-4954-A80F-275E54C3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담당 구현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BB2CE60-1839-455E-93E5-8A0C107F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1813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07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ECE2FA5-31C8-424D-AC6B-75B7F60C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트러블슈팅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00E7691-7D75-47D3-9AC8-95E3F8D3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5814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08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20FB21A-937A-4E26-ABB7-97396DD4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산출물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F62399C-A744-42B9-B6AE-329D85D4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9814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09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3E7DFC8-4654-405E-B05F-42242C8F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협업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B2227EC-D351-4E38-9406-8758C4AD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3815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10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BD69BF9-3D9B-4B97-9B3A-B8CC7DAD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회고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BA7A0CC-0999-471E-BA72-11303DF6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2865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7085"/>
                </a:solidFill>
              </a:defRPr>
            </a:pPr>
            <a:r>
              <a:rPr sz="1350" b="1">
                <a:solidFill>
                  <a:srgbClr val="667085"/>
                </a:solidFill>
              </a:rPr>
              <a:t>/19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6DC26A4-7E6F-4502-86BD-D6175956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391275"/>
            <a:ext cx="1885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49671D6-F6CD-4605-A025-F017A6B6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33400"/>
            <a:ext cx="857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7FA6A52-E393-43FD-98E0-FD5773E5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000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느낀점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B400CCD-4020-4B11-B088-8DC8C9A5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0477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팀 회고는 비동기 구조와 추적 데이터의 중요성으로 모였습니다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25682E4-1BFB-4D10-B9AF-F0D78119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76500"/>
            <a:ext cx="3333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4AE5623-41FD-4024-9D29-27E14A8B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765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953022B-E04A-428E-8BE1-5CBA01EF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6860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김준하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8739512-EBE2-4F79-BD24-AEB4D358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08610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44054"/>
                </a:solidFill>
              </a:defRPr>
            </a:pPr>
            <a:r>
              <a:rPr sz="1275">
                <a:solidFill>
                  <a:srgbClr val="344054"/>
                </a:solidFill>
              </a:rPr>
              <a:t>발송 전 준비 단계의 데이터 모델링이 전체 품질을 좌우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278A9C3-2C37-45EF-8978-D08F64E2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76500"/>
            <a:ext cx="3333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8AFD8EB-8DB6-4424-B302-3AF57C9B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765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5058327-393D-46AA-B968-D04AF6E4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860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김영만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F708D89-B853-4CB6-917B-2994896C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8610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44054"/>
                </a:solidFill>
              </a:defRPr>
            </a:pPr>
            <a:r>
              <a:rPr sz="1275">
                <a:solidFill>
                  <a:srgbClr val="344054"/>
                </a:solidFill>
              </a:rPr>
              <a:t>큐와 DLQ를 분리하니 장애가 관찰 가능한 이벤트가 됨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86FFEFB-0A5C-4B5E-BD5A-9557BB4A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952875"/>
            <a:ext cx="3333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E211056-1ED7-42BA-AE62-F90C8539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952875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29597B8-7F48-40BC-9416-77D962AC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162425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이주영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8BE54DD-84E5-466A-9933-E5BAEEC9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562475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44054"/>
                </a:solidFill>
              </a:defRPr>
            </a:pPr>
            <a:r>
              <a:rPr sz="1275">
                <a:solidFill>
                  <a:srgbClr val="344054"/>
                </a:solidFill>
              </a:rPr>
              <a:t>AI는 응답보다 검증과 실패 격리가 더 중요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55B8A3C-AB1E-4E99-80FD-F50125E2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952875"/>
            <a:ext cx="3333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5DFA9CA-BF74-4F55-BD9C-5CB7C1ED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952875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9526C9E-8CF4-4F09-B90F-59B23217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62425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이유경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7071219-B6A4-4FA2-9130-1740112C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62475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44054"/>
                </a:solidFill>
              </a:defRPr>
            </a:pPr>
            <a:r>
              <a:rPr sz="1275">
                <a:solidFill>
                  <a:srgbClr val="344054"/>
                </a:solidFill>
              </a:rPr>
              <a:t>통계는 쿼리 성능과 재집계 가능성을 함께 설계해야 함</a:t>
            </a:r>
          </a:p>
        </p:txBody>
      </p:sp>
    </p:spTree>
    <p:extLst>
      <p:ext uri="{BB962C8B-B14F-4D97-AF65-F5344CB8AC3E}">
        <p14:creationId xmlns:p14="http://schemas.microsoft.com/office/powerpoint/2010/main" val="77296650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14645C-9305-43CA-8CC5-DA45F8DE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766591-007B-4080-AEC9-D592B466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3CCC48-EC20-4219-9EEA-FE42138A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6C9338-7030-4BA9-B528-10893AEA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7F92B5-DA76-4324-BDB0-CB973630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B6BC78-0FF8-4EDE-93EF-26F459B6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AD4B4F-C844-466D-AC6B-60DF1287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E5C9EB-889C-4640-BF15-64EC9415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A20EDE-558D-452F-AB8D-5E24B269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633194-37CC-4241-9098-E1C7B3C1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DBD220-3923-4830-AECE-31E475A6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F97A04-0AD6-4875-9688-AE780D9A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9A07FA-6739-42C1-9541-361844D2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38F5CF-9D17-4779-B373-2C0AFAC9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39E2E0-9C04-4A75-87A9-769FC3E8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1FC3A9-4803-4371-8260-61DC11FF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855EB2-18F9-4B53-9881-13603A40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AF27AF-AD83-4476-925D-5A6803E2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D05409-5F2D-4B24-AC7F-19D69A8D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4EBC78-BB1B-47A7-83C7-FC85275F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1AF425-32E8-4F47-B41B-EE85624A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E399A9-8295-405F-9280-78D9701E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2E758B-3FDF-49F6-89A2-3B0264D9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1870B8-8FCF-4F40-BC8A-F3A7675D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E45EC3-3A35-46EC-B50F-61AEEB33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7D40BA-F3AB-457E-ADC1-1ABE6F08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516BF2-E57C-4EBA-90EE-B055ED4A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39C6F1-A98D-48E9-96DE-2C6A6F8C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FB2A18-E7BE-41FC-B4CF-00717176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84AE5A-38B1-44C5-A2C9-1337B9AF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28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5982BF-B8BD-4987-8955-C32CE356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F151E9-E55E-42B8-B76C-D65C870D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381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F90AB3-F9C1-4C95-8F8D-9F0471BF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69B3F6-A7ED-4C7D-B462-90C662F6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33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3806DB-B434-45A8-8294-ED12335F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881377-72D9-4C8D-81FA-0B0A8659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86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C2EE80-A78F-480A-91C6-457F9374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C99FAE6-7842-429F-8BD0-8A2CF1BE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B97952F-5AD9-49F8-809A-0BF8739B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7DD81CC-C303-4228-B50E-3BD12782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B0DE755-013D-4345-B2AD-578AB706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6E8BBB9-FD94-43FC-AC54-6FFCFB11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1828"/>
                </a:solidFill>
              </a:defRPr>
            </a:pPr>
            <a:r>
              <a:rPr sz="4050" b="1">
                <a:solidFill>
                  <a:srgbClr val="101828"/>
                </a:solidFill>
              </a:rPr>
              <a:t>Smart Messaging System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83A122D-DE41-44C3-BE70-6CF22970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9562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344054"/>
                </a:solidFill>
              </a:defRPr>
            </a:pPr>
            <a:r>
              <a:rPr sz="2100">
                <a:solidFill>
                  <a:srgbClr val="344054"/>
                </a:solidFill>
              </a:rPr>
              <a:t>질문을 받겠습니다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672A62C-AE45-4120-95C2-0C59558F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52625"/>
            <a:ext cx="23812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B8E3173-3112-4639-A5C9-F7C01CA2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14625"/>
            <a:ext cx="142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2563EB"/>
                </a:solidFill>
              </a:defRPr>
            </a:pPr>
            <a:r>
              <a:rPr sz="4650" b="1">
                <a:solidFill>
                  <a:srgbClr val="2563EB"/>
                </a:solidFill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3214747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2026-07-08T08:49:05.7930000Z</dcterms:created>
  <dcterms:modified xsi:type="dcterms:W3CDTF">2026-07-08T08:49:05.7930000Z</dcterms:modified>
</coreProperties>
</file>